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Assessment of med_mllm_gap_notes.pdf. The framework is reasonable; causal dominance, population prevalence, and the pre/post boundary are hypotheses. New work: read-only data audit, lookup baselines and source-figure inspection. Existing GPU runs are inspected, not rerun.</a:t>
            </a:r>
          </a:p>
          <a:p/>
          <a:p>
            <a:r>
              <a:t>Sources: Advisor discussion · October 19,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Medical knowledge remains useful. Missing evidence, missed perception, ambiguity and unused evidence are not interchangeable. A confirmed diagnosis may be a valid probabilistic target while a fabricated visual premise remains defective.</a:t>
            </a:r>
          </a:p>
          <a:p/>
          <a:p>
            <a:r>
              <a:t>Sources: Discussion notes, pp. 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LLaVA-Med uses caption and inline article mentions with a text teacher. Huatuo uses an image-aware GPT-4V reformatter, so it must not be called caption-only. Lingshu uses image, RoI, metadata and knowledge; reasoning distillation supplies the known answer. Privileged supervision is useful when targets remain answerable or probabilistic; per-claim auditing is needed.</a:t>
            </a:r>
          </a:p>
          <a:p/>
          <a:p>
            <a:r>
              <a:t>Sources: P01 LLaVA-Med · P02 HuatuoGPT-Vision · P03 Lingshu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Scores are protocol-specific and not cross-paper rankings. MedVLM-R1 reports substantial RL gains. MedVLThinker shows stronger gains from curated text-only training in its comparisons; data quality is a confound. Beyond Accuracy is a small preprint using 100 items per benchmark. Its image-invariance heuristic is not an expert hallucination label; a shuffled image can preserve the correct answer.</a:t>
            </a:r>
          </a:p>
          <a:p/>
          <a:p>
            <a:r>
              <a:t>Sources: P08 MedVLM-R1 · P11 MedVLThinker · P12 Beyond Accuracy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MCR already rewards perceptual and reasoning consistency. Med-OPD weights tokens using teacher image-degradation dependence. MedTRACE models sufficiency and acquisition. CARE-MVLM uses lesion and random-region removals with an answerability selector. New research must add evidence beyond these, not relabel them.</a:t>
            </a:r>
          </a:p>
          <a:p/>
          <a:p>
            <a:r>
              <a:t>Sources: P15 MCR · P19 Med-OPD · P20 MedTRACE · P21 spatial/factual RL · P22 CARE-MVLM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explicit-comparison lexical screen, not a clinical hallucination rate. All audited report records contain one image and a generic report prompt, with no supplied prior. Local record counts are not full dataset or patient counts. Broader stable/unchanged flags are reported separately in the brief.</a:t>
            </a:r>
          </a:p>
          <a:p/>
          <a:p>
            <a:r>
              <a:t>Sources: New local-file audit · audit_data.py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0 supplies one image and asks for a concise report. The target compares to a previous radiograph and claims a right-hilar atelectasis is less severe. We do not adjudicate the current radiograph or assert that its present findings are wrong. This case concerns missing comparison evidence in the task wrapper. Missing-prior rewriting and DPO suppression have direct precedents P06–P07.</a:t>
            </a:r>
          </a:p>
          <a:p/>
          <a:p>
            <a:r>
              <a:t>Sources: C10–C11 · MIMIC_CXR/data_report/training.json · rows 0–1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local 215×123 image was visually compared to the published figure and matches its rightmost MRI 3 column. The generated answer discusses improvement versus earlier scans and exact ages. Structural availability is verified; lesion grades are not independently clinically adjudicated. Restore source panels/dates separately from age metadata. Original figure attribution: Horga et al., Skeletal Radiology, 2020; https://pmc.ncbi.nlm.nih.gov/articles/PMC7300102/.</a:t>
            </a:r>
          </a:p>
          <a:p/>
          <a:p>
            <a:r>
              <a:t>Sources: C05 · PubMedVision Instruction-Tuning_394494 · Original: PMC7300102, Figure 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supplied file is an MR image; question asks about a large mass. The source caption reports a biopsy confirming fibroadenoma with lactational changes, but no biopsy report is supplied to the student. The claim that biopsy confirmation occurred is off-input even if the final diagnosis is true. We do not independently adjudicate diagnostic certainty from this image. Article attribution: Pregnancy-lactation cycle: how to use imaging methods for breast evaluation, Radiologia Brasileira 2020.</a:t>
            </a:r>
          </a:p>
          <a:p/>
          <a:p>
            <a:r>
              <a:t>Sources: C01 · PubMedVision Instruction-Tuning_422538 · Original: PMC7720671, Figure 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normalized train-question lookup with global train-answer fallback; no images, metadata or pretrained language model. Correct: 579/1061 = 54.57%; 95% image-cluster bootstrap interval 51.74–57.21%. There are 4919 training QA over 450 images and 1061 test QA over 96 images. Image overlap is zero; 999 test questions occur in train. Type mode is a separate metadata-aware baseline. This does not claim the same performance protocol as published MLLM evaluations.</a:t>
            </a:r>
          </a:p>
          <a:p/>
          <a:p>
            <a:r>
              <a:t>Sources: New SLAKE English train/test lookup · benchmark_text_baseline.py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age, biopsy, and temporal regex hits need human review. PMC-VQA test row 9 actually supplies an IHC-containing image, though the exact marker identity can still require context. SLAKE includes legitimate knowledge QA. The 31.708% PMC-VQA answer-letter baseline includes 10 malformed test labels in its denominator. Broad anatomy is demonstrably retained and used in the archived pilot; small-lesion coverage remains open.</a:t>
            </a:r>
          </a:p>
          <a:p/>
          <a:p>
            <a:r>
              <a:t>Sources: C06–C09 · dataset_audit.json · text_baseline.json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local Huatuo-labeled checkpoint uses a LLaVA-Qwen2 architecture, not necessarily the original 2024 Huatuo paper checkpoint. Choices are scored across all six answer permutations. The provenance prompt improves abstention when facts are missing but suppresses negative-context updating. The MedSIGHT counterpart also suppresses visual anatomy under conflicting notes. These are exploratory constrained-choice findings, not a clinical model ranking.</a:t>
            </a:r>
          </a:p>
          <a:p/>
          <a:p>
            <a:r>
              <a:t>Sources: Archived information_gap pilot · 12 selected facts · no new GPU inference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deterministic Z=g(I), fixed question and finite Y under a specified distribution, the four-term identity is valid. Cross entropy equals H(Y|Z)+KL, then chain rules provide the decomposition. The last term includes approximation, fitting and calibration. A fixed-model ablation does not estimate these terms. A failed probe can reflect finite data, pooling or limited capacity; a successful probe can exploit correlations.</a:t>
            </a:r>
          </a:p>
          <a:p/>
          <a:p>
            <a:r>
              <a:t>Sources: Discussion notes §4 · T01 usable information / PVI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in a single modality and use source-grounded claims. Prior studies and biopsy reports can be withheld or supplied without editing anatomy. Expert annotation should be blinded and include unavailable, visible, contextual, derived and ambiguous labels. For image changes, use matched cases or validated edits plus irrelevant-region controls. Do not automatically interpret lesion removal as proof of a unique negative diagnosis.</a:t>
            </a:r>
          </a:p>
          <a:p/>
          <a:p>
            <a:r>
              <a:t>Sources: Proposed study · not an experiment already run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correct final answer can still contain false premises; evaluate that explicitly. Distinguish withholding evidence from a negative study. If the diagnosis is ambiguous, use acceptable sets or probability labels. Report the four components separately as well as their intersection, clustered by independent patient/article. Pre-register prompts, primary loss, sample-size justification and exclusions before inspecting new model outputs.</a:t>
            </a:r>
          </a:p>
          <a:p/>
          <a:p>
            <a:r>
              <a:t>Sources: Proposed joint evidential success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method should not pass by refusing everything. Compare aligned cleaning with equal-size random cleaning, standard SFT/DPO and relevant MCR or counterfactual controls. Include patient/article clustering and an external-site evaluation. Representation tests become meaningful on independently annotated lesions rather than only broad head/chest anatomy. Conformal calibration comes after score and loss design, with separate calibration patients.</a:t>
            </a:r>
          </a:p>
          <a:p/>
          <a:p>
            <a:r>
              <a:t>Sources: Pre-specified falsification and go/no-go criteria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discussion: choose one modality and clinical annotation partner; define source/evidence labels; agree on a budget-matched 2×2 supervision/objective study and joint outcome. Keep causal dominance, coverage deficits and deployment guarantees open. The project is ready to discuss as a hypothesis supported by traceable examples, not as an already established root-cause finding.</a:t>
            </a:r>
          </a:p>
          <a:p/>
          <a:p>
            <a:r>
              <a:t>Sources: Full evidence and reproducible audit: advisor_evidence_brief.html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links identify the primary sources used in the evidence brief. P24 MedBench and P25 the wound study are discussed in the brief with limitations. No cross-paper score ranking is intended.</a:t>
            </a:r>
          </a:p>
          <a:p/>
          <a:p>
            <a:r>
              <a:t>Sources: Primary-source links; full locators and limitations in paper_evidence.csv</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links identify the primary sources used in the evidence brief. P24 MedBench and P25 the wound study are discussed in the brief with limitations. No cross-paper score ranking is intended.</a:t>
            </a:r>
          </a:p>
          <a:p/>
          <a:p>
            <a:r>
              <a:t>Sources: Primary-source links; full locators and limitations in paper_evidence.csv</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links identify the primary sources used in the evidence brief. P24 MedBench and P25 the wound study are discussed in the brief with limitations. No cross-paper score ranking is intended.</a:t>
            </a:r>
          </a:p>
          <a:p/>
          <a:p>
            <a:r>
              <a:t>Sources: Primary-source links; full locators and limitations in paper_evidence.csv</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links identify the primary sources used in the evidence brief. P24 MedBench and P25 the wound study are discussed in the brief with limitations. No cross-paper score ranking is intended.</a:t>
            </a:r>
          </a:p>
          <a:p/>
          <a:p>
            <a:r>
              <a:t>Sources: Primary-source links; full locators and limitations in paper_evidence.csv</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Which claims can the supplied evidence justify?</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Advisor discussion · October 19, 2026</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1</a:t>
            </a:r>
          </a:p>
        </p:txBody>
      </p:sp>
      <p:sp>
        <p:nvSpPr>
          <p:cNvPr id="9" name="TextBox 8"/>
          <p:cNvSpPr txBox="1"/>
          <p:nvPr/>
        </p:nvSpPr>
        <p:spPr>
          <a:xfrm>
            <a:off x="571500" y="1968500"/>
            <a:ext cx="11049000" cy="482600"/>
          </a:xfrm>
          <a:prstGeom prst="rect">
            <a:avLst/>
          </a:prstGeom>
          <a:noFill/>
        </p:spPr>
        <p:txBody>
          <a:bodyPr wrap="square" lIns="0" rIns="0" tIns="0" bIns="0">
            <a:spAutoFit/>
          </a:bodyPr>
          <a:lstStyle/>
          <a:p>
            <a:pPr>
              <a:lnSpc>
                <a:spcPct val="112000"/>
              </a:lnSpc>
              <a:spcAft>
                <a:spcPts val="200"/>
              </a:spcAft>
              <a:defRPr sz="2200" b="1">
                <a:solidFill>
                  <a:srgbClr val="117D83"/>
                </a:solidFill>
                <a:latin typeface="Arial"/>
              </a:defRPr>
            </a:pPr>
            <a:r>
              <a:t>A tractable research question</a:t>
            </a:r>
          </a:p>
        </p:txBody>
      </p:sp>
      <p:sp>
        <p:nvSpPr>
          <p:cNvPr id="10" name="TextBox 9"/>
          <p:cNvSpPr txBox="1"/>
          <p:nvPr/>
        </p:nvSpPr>
        <p:spPr>
          <a:xfrm>
            <a:off x="571500" y="2667000"/>
            <a:ext cx="10731500" cy="1778000"/>
          </a:xfrm>
          <a:prstGeom prst="rect">
            <a:avLst/>
          </a:prstGeom>
          <a:noFill/>
        </p:spPr>
        <p:txBody>
          <a:bodyPr wrap="square" lIns="0" rIns="0" tIns="0" bIns="0">
            <a:spAutoFit/>
          </a:bodyPr>
          <a:lstStyle/>
          <a:p>
            <a:pPr>
              <a:lnSpc>
                <a:spcPct val="112000"/>
              </a:lnSpc>
              <a:spcAft>
                <a:spcPts val="200"/>
              </a:spcAft>
              <a:defRPr sz="2850" b="1">
                <a:solidFill>
                  <a:srgbClr val="172B46"/>
                </a:solidFill>
                <a:latin typeface="Arial"/>
              </a:defRPr>
            </a:pPr>
            <a:r>
              <a:t>Does aligning each training claim with the evidence actually supplied reduce unsupported assertions without losing useful diagnostic performance?</a:t>
            </a:r>
          </a:p>
        </p:txBody>
      </p:sp>
      <p:sp>
        <p:nvSpPr>
          <p:cNvPr id="11" name="TextBox 10"/>
          <p:cNvSpPr txBox="1"/>
          <p:nvPr/>
        </p:nvSpPr>
        <p:spPr>
          <a:xfrm>
            <a:off x="571500" y="4889500"/>
            <a:ext cx="10922000" cy="889000"/>
          </a:xfrm>
          <a:prstGeom prst="rect">
            <a:avLst/>
          </a:prstGeom>
          <a:noFill/>
        </p:spPr>
        <p:txBody>
          <a:bodyPr wrap="square" lIns="0" rIns="0" tIns="0" bIns="0">
            <a:spAutoFit/>
          </a:bodyPr>
          <a:lstStyle/>
          <a:p>
            <a:pPr>
              <a:lnSpc>
                <a:spcPct val="112000"/>
              </a:lnSpc>
              <a:spcAft>
                <a:spcPts val="200"/>
              </a:spcAft>
              <a:defRPr sz="1900" b="0">
                <a:solidFill>
                  <a:srgbClr val="172B46"/>
                </a:solidFill>
                <a:latin typeface="Arial"/>
              </a:defRPr>
            </a:pPr>
            <a:r>
              <a:t>Central idea: supported. Dominant root cause: unproven.</a:t>
            </a:r>
          </a:p>
          <a:p>
            <a:pPr>
              <a:lnSpc>
                <a:spcPct val="112000"/>
              </a:lnSpc>
              <a:spcAft>
                <a:spcPts val="200"/>
              </a:spcAft>
              <a:defRPr sz="1900" b="0">
                <a:solidFill>
                  <a:srgbClr val="172B46"/>
                </a:solidFill>
                <a:latin typeface="Arial"/>
              </a:defRPr>
            </a:pPr>
            <a:r>
              <a:t>Candidate contribution: source provenance + matched supervision intervention.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Separate four problems before choosing a method</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Discussion notes, pp. 2–5</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2</a:t>
            </a:r>
          </a:p>
        </p:txBody>
      </p:sp>
      <p:sp>
        <p:nvSpPr>
          <p:cNvPr id="9" name="Rectangle 8"/>
          <p:cNvSpPr/>
          <p:nvPr/>
        </p:nvSpPr>
        <p:spPr>
          <a:xfrm>
            <a:off x="571500" y="1905000"/>
            <a:ext cx="5397500" cy="1778000"/>
          </a:xfrm>
          <a:prstGeom prst="rect">
            <a:avLst/>
          </a:prstGeom>
          <a:solidFill>
            <a:srgbClr val="E8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133600"/>
            <a:ext cx="4940300" cy="444500"/>
          </a:xfrm>
          <a:prstGeom prst="rect">
            <a:avLst/>
          </a:prstGeom>
          <a:noFill/>
        </p:spPr>
        <p:txBody>
          <a:bodyPr wrap="square" lIns="0" rIns="0" tIns="0" bIns="0">
            <a:spAutoFit/>
          </a:bodyPr>
          <a:lstStyle/>
          <a:p>
            <a:pPr>
              <a:lnSpc>
                <a:spcPct val="112000"/>
              </a:lnSpc>
              <a:spcAft>
                <a:spcPts val="200"/>
              </a:spcAft>
              <a:defRPr sz="2200" b="1">
                <a:solidFill>
                  <a:srgbClr val="117D83"/>
                </a:solidFill>
                <a:latin typeface="Arial"/>
              </a:defRPr>
            </a:pPr>
            <a:r>
              <a:t>Missing evidence</a:t>
            </a:r>
          </a:p>
        </p:txBody>
      </p:sp>
      <p:sp>
        <p:nvSpPr>
          <p:cNvPr id="11" name="TextBox 10"/>
          <p:cNvSpPr txBox="1"/>
          <p:nvPr/>
        </p:nvSpPr>
        <p:spPr>
          <a:xfrm>
            <a:off x="800100" y="2755900"/>
            <a:ext cx="4940300" cy="736600"/>
          </a:xfrm>
          <a:prstGeom prst="rect">
            <a:avLst/>
          </a:prstGeom>
          <a:noFill/>
        </p:spPr>
        <p:txBody>
          <a:bodyPr wrap="square" lIns="0" rIns="0" tIns="0" bIns="0">
            <a:spAutoFit/>
          </a:bodyPr>
          <a:lstStyle/>
          <a:p>
            <a:pPr>
              <a:lnSpc>
                <a:spcPct val="112000"/>
              </a:lnSpc>
              <a:spcAft>
                <a:spcPts val="200"/>
              </a:spcAft>
              <a:defRPr sz="1900" b="0">
                <a:solidFill>
                  <a:srgbClr val="172B46"/>
                </a:solidFill>
                <a:latin typeface="Arial"/>
              </a:defRPr>
            </a:pPr>
            <a:r>
              <a:t>A biopsy result or prior study is absent.</a:t>
            </a:r>
          </a:p>
        </p:txBody>
      </p:sp>
      <p:sp>
        <p:nvSpPr>
          <p:cNvPr id="12" name="Rectangle 11"/>
          <p:cNvSpPr/>
          <p:nvPr/>
        </p:nvSpPr>
        <p:spPr>
          <a:xfrm>
            <a:off x="6223000" y="1905000"/>
            <a:ext cx="5397500" cy="1778000"/>
          </a:xfrm>
          <a:prstGeom prst="rect">
            <a:avLst/>
          </a:prstGeom>
          <a:solidFill>
            <a:srgbClr val="E8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600" y="2133600"/>
            <a:ext cx="4940300" cy="444500"/>
          </a:xfrm>
          <a:prstGeom prst="rect">
            <a:avLst/>
          </a:prstGeom>
          <a:noFill/>
        </p:spPr>
        <p:txBody>
          <a:bodyPr wrap="square" lIns="0" rIns="0" tIns="0" bIns="0">
            <a:spAutoFit/>
          </a:bodyPr>
          <a:lstStyle/>
          <a:p>
            <a:pPr>
              <a:lnSpc>
                <a:spcPct val="112000"/>
              </a:lnSpc>
              <a:spcAft>
                <a:spcPts val="200"/>
              </a:spcAft>
              <a:defRPr sz="2200" b="1">
                <a:solidFill>
                  <a:srgbClr val="117D83"/>
                </a:solidFill>
                <a:latin typeface="Arial"/>
              </a:defRPr>
            </a:pPr>
            <a:r>
              <a:t>Missed perception</a:t>
            </a:r>
          </a:p>
        </p:txBody>
      </p:sp>
      <p:sp>
        <p:nvSpPr>
          <p:cNvPr id="14" name="TextBox 13"/>
          <p:cNvSpPr txBox="1"/>
          <p:nvPr/>
        </p:nvSpPr>
        <p:spPr>
          <a:xfrm>
            <a:off x="6451600" y="2755900"/>
            <a:ext cx="4940300" cy="736600"/>
          </a:xfrm>
          <a:prstGeom prst="rect">
            <a:avLst/>
          </a:prstGeom>
          <a:noFill/>
        </p:spPr>
        <p:txBody>
          <a:bodyPr wrap="square" lIns="0" rIns="0" tIns="0" bIns="0">
            <a:spAutoFit/>
          </a:bodyPr>
          <a:lstStyle/>
          <a:p>
            <a:pPr>
              <a:lnSpc>
                <a:spcPct val="112000"/>
              </a:lnSpc>
              <a:spcAft>
                <a:spcPts val="200"/>
              </a:spcAft>
              <a:defRPr sz="1900" b="0">
                <a:solidFill>
                  <a:srgbClr val="172B46"/>
                </a:solidFill>
                <a:latin typeface="Arial"/>
              </a:defRPr>
            </a:pPr>
            <a:r>
              <a:t>The relevant finding is present but missed.</a:t>
            </a:r>
          </a:p>
        </p:txBody>
      </p:sp>
      <p:sp>
        <p:nvSpPr>
          <p:cNvPr id="15" name="Rectangle 14"/>
          <p:cNvSpPr/>
          <p:nvPr/>
        </p:nvSpPr>
        <p:spPr>
          <a:xfrm>
            <a:off x="571500" y="3937000"/>
            <a:ext cx="5397500" cy="1778000"/>
          </a:xfrm>
          <a:prstGeom prst="rect">
            <a:avLst/>
          </a:prstGeom>
          <a:solidFill>
            <a:srgbClr val="E8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0100" y="4165600"/>
            <a:ext cx="4940300" cy="444500"/>
          </a:xfrm>
          <a:prstGeom prst="rect">
            <a:avLst/>
          </a:prstGeom>
          <a:noFill/>
        </p:spPr>
        <p:txBody>
          <a:bodyPr wrap="square" lIns="0" rIns="0" tIns="0" bIns="0">
            <a:spAutoFit/>
          </a:bodyPr>
          <a:lstStyle/>
          <a:p>
            <a:pPr>
              <a:lnSpc>
                <a:spcPct val="112000"/>
              </a:lnSpc>
              <a:spcAft>
                <a:spcPts val="200"/>
              </a:spcAft>
              <a:defRPr sz="2200" b="1">
                <a:solidFill>
                  <a:srgbClr val="117D83"/>
                </a:solidFill>
                <a:latin typeface="Arial"/>
              </a:defRPr>
            </a:pPr>
            <a:r>
              <a:t>Ambiguous evidence</a:t>
            </a:r>
          </a:p>
        </p:txBody>
      </p:sp>
      <p:sp>
        <p:nvSpPr>
          <p:cNvPr id="17" name="TextBox 16"/>
          <p:cNvSpPr txBox="1"/>
          <p:nvPr/>
        </p:nvSpPr>
        <p:spPr>
          <a:xfrm>
            <a:off x="800100" y="4787900"/>
            <a:ext cx="4940300" cy="736600"/>
          </a:xfrm>
          <a:prstGeom prst="rect">
            <a:avLst/>
          </a:prstGeom>
          <a:noFill/>
        </p:spPr>
        <p:txBody>
          <a:bodyPr wrap="square" lIns="0" rIns="0" tIns="0" bIns="0">
            <a:spAutoFit/>
          </a:bodyPr>
          <a:lstStyle/>
          <a:p>
            <a:pPr>
              <a:lnSpc>
                <a:spcPct val="112000"/>
              </a:lnSpc>
              <a:spcAft>
                <a:spcPts val="200"/>
              </a:spcAft>
              <a:defRPr sz="1900" b="0">
                <a:solidFill>
                  <a:srgbClr val="172B46"/>
                </a:solidFill>
                <a:latin typeface="Arial"/>
              </a:defRPr>
            </a:pPr>
            <a:r>
              <a:t>The supplied image cannot resolve the diagnosis.</a:t>
            </a:r>
          </a:p>
        </p:txBody>
      </p:sp>
      <p:sp>
        <p:nvSpPr>
          <p:cNvPr id="18" name="Rectangle 17"/>
          <p:cNvSpPr/>
          <p:nvPr/>
        </p:nvSpPr>
        <p:spPr>
          <a:xfrm>
            <a:off x="6223000" y="3937000"/>
            <a:ext cx="5397500" cy="1778000"/>
          </a:xfrm>
          <a:prstGeom prst="rect">
            <a:avLst/>
          </a:prstGeom>
          <a:solidFill>
            <a:srgbClr val="E8E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51600" y="4165600"/>
            <a:ext cx="4940300" cy="444500"/>
          </a:xfrm>
          <a:prstGeom prst="rect">
            <a:avLst/>
          </a:prstGeom>
          <a:noFill/>
        </p:spPr>
        <p:txBody>
          <a:bodyPr wrap="square" lIns="0" rIns="0" tIns="0" bIns="0">
            <a:spAutoFit/>
          </a:bodyPr>
          <a:lstStyle/>
          <a:p>
            <a:pPr>
              <a:lnSpc>
                <a:spcPct val="112000"/>
              </a:lnSpc>
              <a:spcAft>
                <a:spcPts val="200"/>
              </a:spcAft>
              <a:defRPr sz="2200" b="1">
                <a:solidFill>
                  <a:srgbClr val="117D83"/>
                </a:solidFill>
                <a:latin typeface="Arial"/>
              </a:defRPr>
            </a:pPr>
            <a:r>
              <a:t>Unused evidence</a:t>
            </a:r>
          </a:p>
        </p:txBody>
      </p:sp>
      <p:sp>
        <p:nvSpPr>
          <p:cNvPr id="20" name="TextBox 19"/>
          <p:cNvSpPr txBox="1"/>
          <p:nvPr/>
        </p:nvSpPr>
        <p:spPr>
          <a:xfrm>
            <a:off x="6451600" y="4787900"/>
            <a:ext cx="4940300" cy="736600"/>
          </a:xfrm>
          <a:prstGeom prst="rect">
            <a:avLst/>
          </a:prstGeom>
          <a:noFill/>
        </p:spPr>
        <p:txBody>
          <a:bodyPr wrap="square" lIns="0" rIns="0" tIns="0" bIns="0">
            <a:spAutoFit/>
          </a:bodyPr>
          <a:lstStyle/>
          <a:p>
            <a:pPr>
              <a:lnSpc>
                <a:spcPct val="112000"/>
              </a:lnSpc>
              <a:spcAft>
                <a:spcPts val="200"/>
              </a:spcAft>
              <a:defRPr sz="1900" b="0">
                <a:solidFill>
                  <a:srgbClr val="172B46"/>
                </a:solidFill>
                <a:latin typeface="Arial"/>
              </a:defRPr>
            </a:pPr>
            <a:r>
              <a:t>A retained finding loses to a text shortcut.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Teacher knowledge can exceed student evidence</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P01 LLaVA-Med · P02 HuatuoGPT-Vision · P03 Lingshu</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3</a:t>
            </a:r>
          </a:p>
        </p:txBody>
      </p:sp>
      <p:sp>
        <p:nvSpPr>
          <p:cNvPr id="9" name="Rectangle 8"/>
          <p:cNvSpPr/>
          <p:nvPr/>
        </p:nvSpPr>
        <p:spPr>
          <a:xfrm>
            <a:off x="571500" y="2286000"/>
            <a:ext cx="3429000" cy="2603500"/>
          </a:xfrm>
          <a:prstGeom prst="rect">
            <a:avLst/>
          </a:prstGeom>
          <a:solidFill>
            <a:srgbClr val="E5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540000"/>
            <a:ext cx="2984500" cy="508000"/>
          </a:xfrm>
          <a:prstGeom prst="rect">
            <a:avLst/>
          </a:prstGeom>
          <a:noFill/>
        </p:spPr>
        <p:txBody>
          <a:bodyPr wrap="square" lIns="0" rIns="0" tIns="0" bIns="0">
            <a:spAutoFit/>
          </a:bodyPr>
          <a:lstStyle/>
          <a:p>
            <a:pPr>
              <a:lnSpc>
                <a:spcPct val="112000"/>
              </a:lnSpc>
              <a:spcAft>
                <a:spcPts val="200"/>
              </a:spcAft>
              <a:defRPr sz="2100" b="1">
                <a:solidFill>
                  <a:srgbClr val="117D83"/>
                </a:solidFill>
                <a:latin typeface="Arial"/>
              </a:defRPr>
            </a:pPr>
            <a:r>
              <a:t>Article / teacher</a:t>
            </a:r>
          </a:p>
        </p:txBody>
      </p:sp>
      <p:sp>
        <p:nvSpPr>
          <p:cNvPr id="11" name="TextBox 10"/>
          <p:cNvSpPr txBox="1"/>
          <p:nvPr/>
        </p:nvSpPr>
        <p:spPr>
          <a:xfrm>
            <a:off x="800100" y="3302000"/>
            <a:ext cx="2984500" cy="1422400"/>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Images + captions</a:t>
            </a:r>
          </a:p>
          <a:p>
            <a:pPr>
              <a:lnSpc>
                <a:spcPct val="112000"/>
              </a:lnSpc>
              <a:spcAft>
                <a:spcPts val="200"/>
              </a:spcAft>
              <a:defRPr sz="2000" b="0">
                <a:solidFill>
                  <a:srgbClr val="172B46"/>
                </a:solidFill>
                <a:latin typeface="Arial"/>
              </a:defRPr>
            </a:pPr>
            <a:r>
              <a:t>History, pathology,</a:t>
            </a:r>
          </a:p>
          <a:p>
            <a:pPr>
              <a:lnSpc>
                <a:spcPct val="112000"/>
              </a:lnSpc>
              <a:spcAft>
                <a:spcPts val="200"/>
              </a:spcAft>
              <a:defRPr sz="2000" b="0">
                <a:solidFill>
                  <a:srgbClr val="172B46"/>
                </a:solidFill>
                <a:latin typeface="Arial"/>
              </a:defRPr>
            </a:pPr>
            <a:r>
              <a:t>other panels / dates</a:t>
            </a:r>
          </a:p>
        </p:txBody>
      </p:sp>
      <p:sp>
        <p:nvSpPr>
          <p:cNvPr id="12" name="Rectangle 11"/>
          <p:cNvSpPr/>
          <p:nvPr/>
        </p:nvSpPr>
        <p:spPr>
          <a:xfrm>
            <a:off x="4381500" y="2286000"/>
            <a:ext cx="3429000" cy="2603500"/>
          </a:xfrm>
          <a:prstGeom prst="rect">
            <a:avLst/>
          </a:prstGeom>
          <a:solidFill>
            <a:srgbClr val="E5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0100" y="2540000"/>
            <a:ext cx="2984500" cy="508000"/>
          </a:xfrm>
          <a:prstGeom prst="rect">
            <a:avLst/>
          </a:prstGeom>
          <a:noFill/>
        </p:spPr>
        <p:txBody>
          <a:bodyPr wrap="square" lIns="0" rIns="0" tIns="0" bIns="0">
            <a:spAutoFit/>
          </a:bodyPr>
          <a:lstStyle/>
          <a:p>
            <a:pPr>
              <a:lnSpc>
                <a:spcPct val="112000"/>
              </a:lnSpc>
              <a:spcAft>
                <a:spcPts val="200"/>
              </a:spcAft>
              <a:defRPr sz="2100" b="1">
                <a:solidFill>
                  <a:srgbClr val="117D83"/>
                </a:solidFill>
                <a:latin typeface="Arial"/>
              </a:defRPr>
            </a:pPr>
            <a:r>
              <a:t>Training record</a:t>
            </a:r>
          </a:p>
        </p:txBody>
      </p:sp>
      <p:sp>
        <p:nvSpPr>
          <p:cNvPr id="14" name="TextBox 13"/>
          <p:cNvSpPr txBox="1"/>
          <p:nvPr/>
        </p:nvSpPr>
        <p:spPr>
          <a:xfrm>
            <a:off x="4610100" y="3302000"/>
            <a:ext cx="2984500" cy="1422400"/>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Selected image(s)</a:t>
            </a:r>
          </a:p>
          <a:p>
            <a:pPr>
              <a:lnSpc>
                <a:spcPct val="112000"/>
              </a:lnSpc>
              <a:spcAft>
                <a:spcPts val="200"/>
              </a:spcAft>
              <a:defRPr sz="2000" b="0">
                <a:solidFill>
                  <a:srgbClr val="172B46"/>
                </a:solidFill>
                <a:latin typeface="Arial"/>
              </a:defRPr>
            </a:pPr>
            <a:r>
              <a:t>+ generated question</a:t>
            </a:r>
          </a:p>
          <a:p>
            <a:pPr>
              <a:lnSpc>
                <a:spcPct val="112000"/>
              </a:lnSpc>
              <a:spcAft>
                <a:spcPts val="200"/>
              </a:spcAft>
              <a:defRPr sz="2000" b="0">
                <a:solidFill>
                  <a:srgbClr val="172B46"/>
                </a:solidFill>
                <a:latin typeface="Arial"/>
              </a:defRPr>
            </a:pPr>
            <a:r>
              <a:t>+ generated answer</a:t>
            </a:r>
          </a:p>
        </p:txBody>
      </p:sp>
      <p:sp>
        <p:nvSpPr>
          <p:cNvPr id="15" name="Rectangle 14"/>
          <p:cNvSpPr/>
          <p:nvPr/>
        </p:nvSpPr>
        <p:spPr>
          <a:xfrm>
            <a:off x="8191500" y="2286000"/>
            <a:ext cx="3429000" cy="2603500"/>
          </a:xfrm>
          <a:prstGeom prst="rect">
            <a:avLst/>
          </a:prstGeom>
          <a:solidFill>
            <a:srgbClr val="E5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20100" y="2540000"/>
            <a:ext cx="2984500" cy="508000"/>
          </a:xfrm>
          <a:prstGeom prst="rect">
            <a:avLst/>
          </a:prstGeom>
          <a:noFill/>
        </p:spPr>
        <p:txBody>
          <a:bodyPr wrap="square" lIns="0" rIns="0" tIns="0" bIns="0">
            <a:spAutoFit/>
          </a:bodyPr>
          <a:lstStyle/>
          <a:p>
            <a:pPr>
              <a:lnSpc>
                <a:spcPct val="112000"/>
              </a:lnSpc>
              <a:spcAft>
                <a:spcPts val="200"/>
              </a:spcAft>
              <a:defRPr sz="2100" b="1">
                <a:solidFill>
                  <a:srgbClr val="117D83"/>
                </a:solidFill>
                <a:latin typeface="Arial"/>
              </a:defRPr>
            </a:pPr>
            <a:r>
              <a:t>Possible mismatch</a:t>
            </a:r>
          </a:p>
        </p:txBody>
      </p:sp>
      <p:sp>
        <p:nvSpPr>
          <p:cNvPr id="17" name="TextBox 16"/>
          <p:cNvSpPr txBox="1"/>
          <p:nvPr/>
        </p:nvSpPr>
        <p:spPr>
          <a:xfrm>
            <a:off x="8420100" y="3302000"/>
            <a:ext cx="2984500" cy="1422400"/>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Answer contains a fact</a:t>
            </a:r>
          </a:p>
          <a:p>
            <a:pPr>
              <a:lnSpc>
                <a:spcPct val="112000"/>
              </a:lnSpc>
              <a:spcAft>
                <a:spcPts val="200"/>
              </a:spcAft>
              <a:defRPr sz="2000" b="0">
                <a:solidFill>
                  <a:srgbClr val="172B46"/>
                </a:solidFill>
                <a:latin typeface="Arial"/>
              </a:defRPr>
            </a:pPr>
            <a:r>
              <a:t>whose evidence never</a:t>
            </a:r>
          </a:p>
          <a:p>
            <a:pPr>
              <a:lnSpc>
                <a:spcPct val="112000"/>
              </a:lnSpc>
              <a:spcAft>
                <a:spcPts val="200"/>
              </a:spcAft>
              <a:defRPr sz="2000" b="0">
                <a:solidFill>
                  <a:srgbClr val="172B46"/>
                </a:solidFill>
                <a:latin typeface="Arial"/>
              </a:defRPr>
            </a:pPr>
            <a:r>
              <a:t>reaches the student</a:t>
            </a:r>
          </a:p>
        </p:txBody>
      </p:sp>
      <p:sp>
        <p:nvSpPr>
          <p:cNvPr id="18" name="TextBox 17"/>
          <p:cNvSpPr txBox="1"/>
          <p:nvPr/>
        </p:nvSpPr>
        <p:spPr>
          <a:xfrm>
            <a:off x="571500" y="5397500"/>
            <a:ext cx="10985500" cy="571500"/>
          </a:xfrm>
          <a:prstGeom prst="rect">
            <a:avLst/>
          </a:prstGeom>
          <a:noFill/>
        </p:spPr>
        <p:txBody>
          <a:bodyPr wrap="square" lIns="0" rIns="0" tIns="0" bIns="0">
            <a:spAutoFit/>
          </a:bodyPr>
          <a:lstStyle/>
          <a:p>
            <a:pPr>
              <a:lnSpc>
                <a:spcPct val="112000"/>
              </a:lnSpc>
              <a:spcAft>
                <a:spcPts val="200"/>
              </a:spcAft>
              <a:defRPr sz="1900" b="0">
                <a:solidFill>
                  <a:srgbClr val="172B46"/>
                </a:solidFill>
                <a:latin typeface="Arial"/>
              </a:defRPr>
            </a:pPr>
            <a:r>
              <a:t>This is a risk to measure, not proof that all synthetic supervision is defective.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Accuracy can rise without stronger visual dependence</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P08 MedVLM-R1 · P11 MedVLThinker · P12 Beyond Accuracy</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4</a:t>
            </a:r>
          </a:p>
        </p:txBody>
      </p:sp>
      <p:sp>
        <p:nvSpPr>
          <p:cNvPr id="9" name="Rectangle 8"/>
          <p:cNvSpPr/>
          <p:nvPr/>
        </p:nvSpPr>
        <p:spPr>
          <a:xfrm>
            <a:off x="571500" y="2006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1905000"/>
            <a:ext cx="10718800" cy="914400"/>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MedVLM-R1: 55.11% → 78.22% in its evaluation, using 600 training QA.</a:t>
            </a:r>
          </a:p>
        </p:txBody>
      </p:sp>
      <p:sp>
        <p:nvSpPr>
          <p:cNvPr id="11" name="Rectangle 10"/>
          <p:cNvSpPr/>
          <p:nvPr/>
        </p:nvSpPr>
        <p:spPr>
          <a:xfrm>
            <a:off x="571500" y="3022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 y="2921000"/>
            <a:ext cx="10718800" cy="914400"/>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MedVLThinker: curated text-only RL can outperform its tested multimodal training recipe.</a:t>
            </a:r>
          </a:p>
        </p:txBody>
      </p:sp>
      <p:sp>
        <p:nvSpPr>
          <p:cNvPr id="13" name="Rectangle 12"/>
          <p:cNvSpPr/>
          <p:nvPr/>
        </p:nvSpPr>
        <p:spPr>
          <a:xfrm>
            <a:off x="571500" y="4038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200" y="3937000"/>
            <a:ext cx="10718800" cy="914400"/>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Beyond Accuracy: accuracy 56.5% → 58.8%, while image sensitivity falls 48.2% → 39.8%.</a:t>
            </a:r>
          </a:p>
        </p:txBody>
      </p:sp>
      <p:sp>
        <p:nvSpPr>
          <p:cNvPr id="15" name="Rectangle 14"/>
          <p:cNvSpPr/>
          <p:nvPr/>
        </p:nvSpPr>
        <p:spPr>
          <a:xfrm>
            <a:off x="571500" y="5054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200" y="4953000"/>
            <a:ext cx="10718800" cy="914400"/>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Test answer correctness and evidence dependence separately. Neither alone certifies a visual premise.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The latest work narrows the novelty claim</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P15 MCR · P19 Med-OPD · P20 MedTRACE · P21 spatial/factual RL · P22 CARE-MVLM</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5</a:t>
            </a:r>
          </a:p>
        </p:txBody>
      </p:sp>
      <p:sp>
        <p:nvSpPr>
          <p:cNvPr id="9" name="Rectangle 8"/>
          <p:cNvSpPr/>
          <p:nvPr/>
        </p:nvSpPr>
        <p:spPr>
          <a:xfrm>
            <a:off x="571500" y="2006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1905000"/>
            <a:ext cx="10718800" cy="914400"/>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MCR and Med-OPD: image-conditioned rewards and token weighting already exist.</a:t>
            </a:r>
          </a:p>
        </p:txBody>
      </p:sp>
      <p:sp>
        <p:nvSpPr>
          <p:cNvPr id="11" name="Rectangle 10"/>
          <p:cNvSpPr/>
          <p:nvPr/>
        </p:nvSpPr>
        <p:spPr>
          <a:xfrm>
            <a:off x="571500" y="3022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 y="2921000"/>
            <a:ext cx="10718800" cy="914400"/>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MedTRACE: evidence sufficiency, tools, verification and confidence already exist.</a:t>
            </a:r>
          </a:p>
        </p:txBody>
      </p:sp>
      <p:sp>
        <p:nvSpPr>
          <p:cNvPr id="13" name="Rectangle 12"/>
          <p:cNvSpPr/>
          <p:nvPr/>
        </p:nvSpPr>
        <p:spPr>
          <a:xfrm>
            <a:off x="571500" y="4038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200" y="3937000"/>
            <a:ext cx="10718800" cy="914400"/>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CARE-MVLM: lesion removal + matched random removal + abstention already exist.</a:t>
            </a:r>
          </a:p>
        </p:txBody>
      </p:sp>
      <p:sp>
        <p:nvSpPr>
          <p:cNvPr id="15" name="Rectangle 14"/>
          <p:cNvSpPr/>
          <p:nvPr/>
        </p:nvSpPr>
        <p:spPr>
          <a:xfrm>
            <a:off x="571500" y="5054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200" y="4953000"/>
            <a:ext cx="10718800" cy="914400"/>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Candidate extension: teacher-only patient facts and missing panels, tested through a controlled target-alignment intervention.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Single-image report targets refer to unavailable priors</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New local-file audit · audit_data.py</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6</a:t>
            </a:r>
          </a:p>
        </p:txBody>
      </p:sp>
      <p:pic>
        <p:nvPicPr>
          <p:cNvPr id="9" name="Picture 8" descr="report_comparisons.png"/>
          <p:cNvPicPr>
            <a:picLocks noChangeAspect="1"/>
          </p:cNvPicPr>
          <p:nvPr/>
        </p:nvPicPr>
        <p:blipFill>
          <a:blip r:embed="rId3"/>
          <a:stretch>
            <a:fillRect/>
          </a:stretch>
        </p:blipFill>
        <p:spPr>
          <a:xfrm>
            <a:off x="1309687" y="1778000"/>
            <a:ext cx="9572625" cy="4254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A traceable report example</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C10–C11 · MIMIC_CXR/data_report/training.json · rows 0–1</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7</a:t>
            </a:r>
          </a:p>
        </p:txBody>
      </p:sp>
      <p:sp>
        <p:nvSpPr>
          <p:cNvPr id="9" name="Rectangle 8"/>
          <p:cNvSpPr/>
          <p:nvPr/>
        </p:nvSpPr>
        <p:spPr>
          <a:xfrm>
            <a:off x="571500" y="1905000"/>
            <a:ext cx="11049000" cy="1079500"/>
          </a:xfrm>
          <a:prstGeom prst="rect">
            <a:avLst/>
          </a:prstGeom>
          <a:solidFill>
            <a:srgbClr val="E3ED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209800"/>
            <a:ext cx="10566400" cy="685800"/>
          </a:xfrm>
          <a:prstGeom prst="rect">
            <a:avLst/>
          </a:prstGeom>
          <a:noFill/>
        </p:spPr>
        <p:txBody>
          <a:bodyPr wrap="square" lIns="0" rIns="0" tIns="0" bIns="0">
            <a:spAutoFit/>
          </a:bodyPr>
          <a:lstStyle/>
          <a:p>
            <a:pPr>
              <a:lnSpc>
                <a:spcPct val="112000"/>
              </a:lnSpc>
              <a:spcAft>
                <a:spcPts val="200"/>
              </a:spcAft>
              <a:defRPr sz="2250" b="1">
                <a:solidFill>
                  <a:srgbClr val="172B46"/>
                </a:solidFill>
                <a:latin typeface="Arial"/>
              </a:defRPr>
            </a:pPr>
            <a:r>
              <a:t>Input: one current image + “generate a concise medical report.”</a:t>
            </a:r>
          </a:p>
        </p:txBody>
      </p:sp>
      <p:sp>
        <p:nvSpPr>
          <p:cNvPr id="11" name="TextBox 10"/>
          <p:cNvSpPr txBox="1"/>
          <p:nvPr/>
        </p:nvSpPr>
        <p:spPr>
          <a:xfrm>
            <a:off x="635000" y="3429000"/>
            <a:ext cx="10795000" cy="1079500"/>
          </a:xfrm>
          <a:prstGeom prst="rect">
            <a:avLst/>
          </a:prstGeom>
          <a:noFill/>
        </p:spPr>
        <p:txBody>
          <a:bodyPr wrap="square" lIns="0" rIns="0" tIns="0" bIns="0">
            <a:spAutoFit/>
          </a:bodyPr>
          <a:lstStyle/>
          <a:p>
            <a:pPr>
              <a:lnSpc>
                <a:spcPct val="112000"/>
              </a:lnSpc>
              <a:spcAft>
                <a:spcPts val="200"/>
              </a:spcAft>
              <a:defRPr sz="2500" b="1">
                <a:solidFill>
                  <a:srgbClr val="BD5B36"/>
                </a:solidFill>
                <a:latin typeface="Arial"/>
              </a:defRPr>
            </a:pPr>
            <a:r>
              <a:t>Target: “As compared to the previous radiograph, no relevant change has occurred.”</a:t>
            </a:r>
          </a:p>
        </p:txBody>
      </p:sp>
      <p:sp>
        <p:nvSpPr>
          <p:cNvPr id="12" name="TextBox 11"/>
          <p:cNvSpPr txBox="1"/>
          <p:nvPr/>
        </p:nvSpPr>
        <p:spPr>
          <a:xfrm>
            <a:off x="635000" y="4826000"/>
            <a:ext cx="10795000" cy="952500"/>
          </a:xfrm>
          <a:prstGeom prst="rect">
            <a:avLst/>
          </a:prstGeom>
          <a:noFill/>
        </p:spPr>
        <p:txBody>
          <a:bodyPr wrap="square" lIns="0" rIns="0" tIns="0" bIns="0">
            <a:spAutoFit/>
          </a:bodyPr>
          <a:lstStyle/>
          <a:p>
            <a:pPr>
              <a:lnSpc>
                <a:spcPct val="112000"/>
              </a:lnSpc>
              <a:spcAft>
                <a:spcPts val="200"/>
              </a:spcAft>
              <a:defRPr sz="2200" b="0">
                <a:solidFill>
                  <a:srgbClr val="172B46"/>
                </a:solidFill>
                <a:latin typeface="Arial"/>
              </a:defRPr>
            </a:pPr>
            <a:r>
              <a:t>Current findings can remain valid.</a:t>
            </a:r>
          </a:p>
          <a:p>
            <a:pPr>
              <a:lnSpc>
                <a:spcPct val="112000"/>
              </a:lnSpc>
              <a:spcAft>
                <a:spcPts val="200"/>
              </a:spcAft>
              <a:defRPr sz="2200" b="0">
                <a:solidFill>
                  <a:srgbClr val="172B46"/>
                </a:solidFill>
                <a:latin typeface="Arial"/>
              </a:defRPr>
            </a:pPr>
            <a:r>
              <a:t>The comparison needs another study. Supply it or revise the target.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A stronger case: earlier timepoints were cropped away</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C05 · PubMedVision Instruction-Tuning_394494 · Original: PMC7300102, Figure 3</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8</a:t>
            </a:r>
          </a:p>
        </p:txBody>
      </p:sp>
      <p:sp>
        <p:nvSpPr>
          <p:cNvPr id="9" name="TextBox 8"/>
          <p:cNvSpPr txBox="1"/>
          <p:nvPr/>
        </p:nvSpPr>
        <p:spPr>
          <a:xfrm>
            <a:off x="571500" y="1841500"/>
            <a:ext cx="3048000" cy="381000"/>
          </a:xfrm>
          <a:prstGeom prst="rect">
            <a:avLst/>
          </a:prstGeom>
          <a:noFill/>
        </p:spPr>
        <p:txBody>
          <a:bodyPr wrap="square" lIns="0" rIns="0" tIns="0" bIns="0">
            <a:spAutoFit/>
          </a:bodyPr>
          <a:lstStyle/>
          <a:p>
            <a:pPr>
              <a:lnSpc>
                <a:spcPct val="112000"/>
              </a:lnSpc>
              <a:spcAft>
                <a:spcPts val="200"/>
              </a:spcAft>
              <a:defRPr sz="1800" b="1">
                <a:solidFill>
                  <a:srgbClr val="117D83"/>
                </a:solidFill>
                <a:latin typeface="Arial"/>
              </a:defRPr>
            </a:pPr>
            <a:r>
              <a:t>Actual input</a:t>
            </a:r>
          </a:p>
        </p:txBody>
      </p:sp>
      <p:pic>
        <p:nvPicPr>
          <p:cNvPr id="10" name="Picture 9" descr="C05_pmc_394494_0.jpg"/>
          <p:cNvPicPr>
            <a:picLocks noChangeAspect="1"/>
          </p:cNvPicPr>
          <p:nvPr/>
        </p:nvPicPr>
        <p:blipFill>
          <a:blip r:embed="rId3"/>
          <a:stretch>
            <a:fillRect/>
          </a:stretch>
        </p:blipFill>
        <p:spPr>
          <a:xfrm>
            <a:off x="571500" y="2852036"/>
            <a:ext cx="2794000" cy="1598427"/>
          </a:xfrm>
          <a:prstGeom prst="rect">
            <a:avLst/>
          </a:prstGeom>
        </p:spPr>
      </p:pic>
      <p:sp>
        <p:nvSpPr>
          <p:cNvPr id="11" name="TextBox 10"/>
          <p:cNvSpPr txBox="1"/>
          <p:nvPr/>
        </p:nvSpPr>
        <p:spPr>
          <a:xfrm>
            <a:off x="3937000" y="1841500"/>
            <a:ext cx="7493000" cy="381000"/>
          </a:xfrm>
          <a:prstGeom prst="rect">
            <a:avLst/>
          </a:prstGeom>
          <a:noFill/>
        </p:spPr>
        <p:txBody>
          <a:bodyPr wrap="square" lIns="0" rIns="0" tIns="0" bIns="0">
            <a:spAutoFit/>
          </a:bodyPr>
          <a:lstStyle/>
          <a:p>
            <a:pPr>
              <a:lnSpc>
                <a:spcPct val="112000"/>
              </a:lnSpc>
              <a:spcAft>
                <a:spcPts val="200"/>
              </a:spcAft>
              <a:defRPr sz="1800" b="1">
                <a:solidFill>
                  <a:srgbClr val="117D83"/>
                </a:solidFill>
                <a:latin typeface="Arial"/>
              </a:defRPr>
            </a:pPr>
            <a:r>
              <a:t>Published figure</a:t>
            </a:r>
          </a:p>
        </p:txBody>
      </p:sp>
      <p:pic>
        <p:nvPicPr>
          <p:cNvPr id="12" name="Picture 11" descr="original_knee_figure.jpg"/>
          <p:cNvPicPr>
            <a:picLocks noChangeAspect="1"/>
          </p:cNvPicPr>
          <p:nvPr/>
        </p:nvPicPr>
        <p:blipFill>
          <a:blip r:embed="rId4"/>
          <a:stretch>
            <a:fillRect/>
          </a:stretch>
        </p:blipFill>
        <p:spPr>
          <a:xfrm>
            <a:off x="3937000" y="2626987"/>
            <a:ext cx="7493000" cy="2048524"/>
          </a:xfrm>
          <a:prstGeom prst="rect">
            <a:avLst/>
          </a:prstGeom>
        </p:spPr>
      </p:pic>
      <p:sp>
        <p:nvSpPr>
          <p:cNvPr id="13" name="TextBox 12"/>
          <p:cNvSpPr txBox="1"/>
          <p:nvPr/>
        </p:nvSpPr>
        <p:spPr>
          <a:xfrm>
            <a:off x="571500" y="5334000"/>
            <a:ext cx="11049000" cy="660400"/>
          </a:xfrm>
          <a:prstGeom prst="rect">
            <a:avLst/>
          </a:prstGeom>
          <a:noFill/>
        </p:spPr>
        <p:txBody>
          <a:bodyPr wrap="square" lIns="0" rIns="0" tIns="0" bIns="0">
            <a:spAutoFit/>
          </a:bodyPr>
          <a:lstStyle/>
          <a:p>
            <a:pPr>
              <a:lnSpc>
                <a:spcPct val="112000"/>
              </a:lnSpc>
              <a:spcAft>
                <a:spcPts val="200"/>
              </a:spcAft>
              <a:defRPr sz="1950" b="1">
                <a:solidFill>
                  <a:srgbClr val="BD5B36"/>
                </a:solidFill>
                <a:latin typeface="Arial"/>
              </a:defRPr>
            </a:pPr>
            <a:r>
              <a:t>Target describes recovery across time. Input contains only the final timepoint.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A true diagnosis can have unsupported provenance</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C01 · PubMedVision Instruction-Tuning_422538 · Original: PMC7720671, Figure 5</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9</a:t>
            </a:r>
          </a:p>
        </p:txBody>
      </p:sp>
      <p:pic>
        <p:nvPicPr>
          <p:cNvPr id="9" name="Picture 8" descr="C01_pmc_422538_0.jpg"/>
          <p:cNvPicPr>
            <a:picLocks noChangeAspect="1"/>
          </p:cNvPicPr>
          <p:nvPr/>
        </p:nvPicPr>
        <p:blipFill>
          <a:blip r:embed="rId3"/>
          <a:stretch>
            <a:fillRect/>
          </a:stretch>
        </p:blipFill>
        <p:spPr>
          <a:xfrm>
            <a:off x="571500" y="1855015"/>
            <a:ext cx="4254500" cy="3782968"/>
          </a:xfrm>
          <a:prstGeom prst="rect">
            <a:avLst/>
          </a:prstGeom>
        </p:spPr>
      </p:pic>
      <p:sp>
        <p:nvSpPr>
          <p:cNvPr id="10" name="TextBox 9"/>
          <p:cNvSpPr txBox="1"/>
          <p:nvPr/>
        </p:nvSpPr>
        <p:spPr>
          <a:xfrm>
            <a:off x="5334000" y="2032000"/>
            <a:ext cx="6223000" cy="1498600"/>
          </a:xfrm>
          <a:prstGeom prst="rect">
            <a:avLst/>
          </a:prstGeom>
          <a:noFill/>
        </p:spPr>
        <p:txBody>
          <a:bodyPr wrap="square" lIns="0" rIns="0" tIns="0" bIns="0">
            <a:spAutoFit/>
          </a:bodyPr>
          <a:lstStyle/>
          <a:p>
            <a:pPr>
              <a:lnSpc>
                <a:spcPct val="112000"/>
              </a:lnSpc>
              <a:spcAft>
                <a:spcPts val="200"/>
              </a:spcAft>
              <a:defRPr sz="2400" b="1">
                <a:solidFill>
                  <a:srgbClr val="BD5B36"/>
                </a:solidFill>
                <a:latin typeface="Arial"/>
              </a:defRPr>
            </a:pPr>
            <a:r>
              <a:t>Original target includes:</a:t>
            </a:r>
          </a:p>
          <a:p>
            <a:pPr>
              <a:lnSpc>
                <a:spcPct val="112000"/>
              </a:lnSpc>
              <a:spcAft>
                <a:spcPts val="200"/>
              </a:spcAft>
              <a:defRPr sz="2400" b="1">
                <a:solidFill>
                  <a:srgbClr val="BD5B36"/>
                </a:solidFill>
                <a:latin typeface="Arial"/>
              </a:defRPr>
            </a:pPr>
            <a:r>
              <a:t>“Our biopsy results confirm this diagnosis.”</a:t>
            </a:r>
          </a:p>
        </p:txBody>
      </p:sp>
      <p:sp>
        <p:nvSpPr>
          <p:cNvPr id="11" name="TextBox 10"/>
          <p:cNvSpPr txBox="1"/>
          <p:nvPr/>
        </p:nvSpPr>
        <p:spPr>
          <a:xfrm>
            <a:off x="5334000" y="3810000"/>
            <a:ext cx="6223000" cy="1905000"/>
          </a:xfrm>
          <a:prstGeom prst="rect">
            <a:avLst/>
          </a:prstGeom>
          <a:noFill/>
        </p:spPr>
        <p:txBody>
          <a:bodyPr wrap="square" lIns="0" rIns="0" tIns="0" bIns="0">
            <a:spAutoFit/>
          </a:bodyPr>
          <a:lstStyle/>
          <a:p>
            <a:pPr>
              <a:lnSpc>
                <a:spcPct val="112000"/>
              </a:lnSpc>
              <a:spcAft>
                <a:spcPts val="200"/>
              </a:spcAft>
              <a:defRPr sz="2100" b="0">
                <a:solidFill>
                  <a:srgbClr val="172B46"/>
                </a:solidFill>
                <a:latin typeface="Arial"/>
              </a:defRPr>
            </a:pPr>
            <a:r>
              <a:t>MRI features ≠ evidence that a biopsy happened.</a:t>
            </a:r>
          </a:p>
          <a:p>
            <a:pPr>
              <a:lnSpc>
                <a:spcPct val="112000"/>
              </a:lnSpc>
              <a:spcAft>
                <a:spcPts val="200"/>
              </a:spcAft>
              <a:defRPr sz="2100" b="0">
                <a:solidFill>
                  <a:srgbClr val="172B46"/>
                </a:solidFill>
                <a:latin typeface="Arial"/>
              </a:defRPr>
            </a:pPr>
          </a:p>
          <a:p>
            <a:pPr>
              <a:lnSpc>
                <a:spcPct val="112000"/>
              </a:lnSpc>
              <a:spcAft>
                <a:spcPts val="200"/>
              </a:spcAft>
              <a:defRPr sz="2100" b="0">
                <a:solidFill>
                  <a:srgbClr val="172B46"/>
                </a:solidFill>
                <a:latin typeface="Arial"/>
              </a:defRPr>
            </a:pPr>
            <a:r>
              <a:t>Keep the differential; add the pathology record before asserting confirmation.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Local benchmark scores have strong text baselines</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New SLAKE English train/test lookup · benchmark_text_baseline.py</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10</a:t>
            </a:r>
          </a:p>
        </p:txBody>
      </p:sp>
      <p:pic>
        <p:nvPicPr>
          <p:cNvPr id="9" name="Picture 8" descr="slake_text_baseline.png"/>
          <p:cNvPicPr>
            <a:picLocks noChangeAspect="1"/>
          </p:cNvPicPr>
          <p:nvPr/>
        </p:nvPicPr>
        <p:blipFill>
          <a:blip r:embed="rId3"/>
          <a:stretch>
            <a:fillRect/>
          </a:stretch>
        </p:blipFill>
        <p:spPr>
          <a:xfrm>
            <a:off x="1309687" y="1778000"/>
            <a:ext cx="9572625" cy="4254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Controls prevent an overbroad “language prior” story</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C06–C09 · dataset_audit.json · text_baseline.json</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11</a:t>
            </a:r>
          </a:p>
        </p:txBody>
      </p:sp>
      <p:sp>
        <p:nvSpPr>
          <p:cNvPr id="9" name="Rectangle 8"/>
          <p:cNvSpPr/>
          <p:nvPr/>
        </p:nvSpPr>
        <p:spPr>
          <a:xfrm>
            <a:off x="571500" y="2006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1905000"/>
            <a:ext cx="10718800" cy="914400"/>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Some knowledge is intended: asking the function of an organ legitimately needs medical knowledge.</a:t>
            </a:r>
          </a:p>
        </p:txBody>
      </p:sp>
      <p:sp>
        <p:nvSpPr>
          <p:cNvPr id="11" name="Rectangle 10"/>
          <p:cNvSpPr/>
          <p:nvPr/>
        </p:nvSpPr>
        <p:spPr>
          <a:xfrm>
            <a:off x="571500" y="3022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 y="2921000"/>
            <a:ext cx="10718800" cy="914400"/>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A biopsy/IHC keyword may accompany an actual histology image. A keyword hit is not a missing-evidence label.</a:t>
            </a:r>
          </a:p>
        </p:txBody>
      </p:sp>
      <p:sp>
        <p:nvSpPr>
          <p:cNvPr id="13" name="Rectangle 12"/>
          <p:cNvSpPr/>
          <p:nvPr/>
        </p:nvSpPr>
        <p:spPr>
          <a:xfrm>
            <a:off x="571500" y="4038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200" y="3937000"/>
            <a:ext cx="10718800" cy="914400"/>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PMC-VQA: predicting the train-mode option B gives 31.708% on test. Check answer-position balance.</a:t>
            </a:r>
          </a:p>
        </p:txBody>
      </p:sp>
      <p:sp>
        <p:nvSpPr>
          <p:cNvPr id="15" name="Rectangle 14"/>
          <p:cNvSpPr/>
          <p:nvPr/>
        </p:nvSpPr>
        <p:spPr>
          <a:xfrm>
            <a:off x="571500" y="5054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200" y="4953000"/>
            <a:ext cx="10718800" cy="914400"/>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Visible dimensions can be answerable while longitudinal percentage change is not. Score atomic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Existing pilot: abstention can conceal evidence suppression</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Archived information_gap pilot · 12 selected facts · no new GPU inference</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12</a:t>
            </a:r>
          </a:p>
        </p:txBody>
      </p:sp>
      <p:pic>
        <p:nvPicPr>
          <p:cNvPr id="9" name="Picture 8" descr="prompt_tradeoff.png"/>
          <p:cNvPicPr>
            <a:picLocks noChangeAspect="1"/>
          </p:cNvPicPr>
          <p:nvPr/>
        </p:nvPicPr>
        <p:blipFill>
          <a:blip r:embed="rId3"/>
          <a:stretch>
            <a:fillRect/>
          </a:stretch>
        </p:blipFill>
        <p:spPr>
          <a:xfrm>
            <a:off x="1407367" y="1778000"/>
            <a:ext cx="9377265" cy="4254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Keep the decomposition; narrow what it proves</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Discussion notes §4 · T01 usable information / PVI</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13</a:t>
            </a:r>
          </a:p>
        </p:txBody>
      </p:sp>
      <p:sp>
        <p:nvSpPr>
          <p:cNvPr id="9" name="TextBox 8"/>
          <p:cNvSpPr txBox="1"/>
          <p:nvPr/>
        </p:nvSpPr>
        <p:spPr>
          <a:xfrm>
            <a:off x="571500" y="1943100"/>
            <a:ext cx="11049000" cy="1397000"/>
          </a:xfrm>
          <a:prstGeom prst="rect">
            <a:avLst/>
          </a:prstGeom>
          <a:noFill/>
        </p:spPr>
        <p:txBody>
          <a:bodyPr wrap="square" lIns="0" rIns="0" tIns="0" bIns="0">
            <a:spAutoFit/>
          </a:bodyPr>
          <a:lstStyle/>
          <a:p>
            <a:pPr>
              <a:lnSpc>
                <a:spcPct val="112000"/>
              </a:lnSpc>
              <a:spcAft>
                <a:spcPts val="200"/>
              </a:spcAft>
              <a:defRPr sz="2400" b="1">
                <a:solidFill>
                  <a:srgbClr val="117D83"/>
                </a:solidFill>
                <a:latin typeface="Arial"/>
              </a:defRPr>
            </a:pPr>
            <a:r>
              <a:t>Prediction loss = intrinsic + missing context</a:t>
            </a:r>
          </a:p>
          <a:p>
            <a:pPr>
              <a:lnSpc>
                <a:spcPct val="112000"/>
              </a:lnSpc>
              <a:spcAft>
                <a:spcPts val="200"/>
              </a:spcAft>
              <a:defRPr sz="2400" b="1">
                <a:solidFill>
                  <a:srgbClr val="117D83"/>
                </a:solidFill>
                <a:latin typeface="Arial"/>
              </a:defRPr>
            </a:pPr>
            <a:r>
              <a:t>                     + lost encoding + predictor mismatch</a:t>
            </a:r>
          </a:p>
        </p:txBody>
      </p:sp>
      <p:sp>
        <p:nvSpPr>
          <p:cNvPr id="10" name="Rectangle 9"/>
          <p:cNvSpPr/>
          <p:nvPr/>
        </p:nvSpPr>
        <p:spPr>
          <a:xfrm>
            <a:off x="571500" y="3848099"/>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746500"/>
            <a:ext cx="10718800" cy="639233"/>
          </a:xfrm>
          <a:prstGeom prst="rect">
            <a:avLst/>
          </a:prstGeom>
          <a:noFill/>
        </p:spPr>
        <p:txBody>
          <a:bodyPr wrap="square" lIns="0" rIns="0" tIns="0" bIns="0">
            <a:spAutoFit/>
          </a:bodyPr>
          <a:lstStyle/>
          <a:p>
            <a:pPr>
              <a:lnSpc>
                <a:spcPct val="112000"/>
              </a:lnSpc>
              <a:spcAft>
                <a:spcPts val="200"/>
              </a:spcAft>
              <a:defRPr sz="2000" b="0">
                <a:solidFill>
                  <a:srgbClr val="172B46"/>
                </a:solidFill>
                <a:latin typeface="Arial"/>
              </a:defRPr>
            </a:pPr>
            <a:r>
              <a:t>Population identity under explicit assumptions; not a per-case uncertainty label.</a:t>
            </a:r>
          </a:p>
        </p:txBody>
      </p:sp>
      <p:sp>
        <p:nvSpPr>
          <p:cNvPr id="12" name="Rectangle 11"/>
          <p:cNvSpPr/>
          <p:nvPr/>
        </p:nvSpPr>
        <p:spPr>
          <a:xfrm>
            <a:off x="571500" y="4588933"/>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 y="4487333"/>
            <a:ext cx="10718800" cy="639233"/>
          </a:xfrm>
          <a:prstGeom prst="rect">
            <a:avLst/>
          </a:prstGeom>
          <a:noFill/>
        </p:spPr>
        <p:txBody>
          <a:bodyPr wrap="square" lIns="0" rIns="0" tIns="0" bIns="0">
            <a:spAutoFit/>
          </a:bodyPr>
          <a:lstStyle/>
          <a:p>
            <a:pPr>
              <a:lnSpc>
                <a:spcPct val="112000"/>
              </a:lnSpc>
              <a:spcAft>
                <a:spcPts val="200"/>
              </a:spcAft>
              <a:defRPr sz="1900" b="0">
                <a:solidFill>
                  <a:srgbClr val="172B46"/>
                </a:solidFill>
                <a:latin typeface="Arial"/>
              </a:defRPr>
            </a:pPr>
            <a:r>
              <a:t>Frozen-Z Fano bounds do not establish a universal pretraining/post-training boundary.</a:t>
            </a:r>
          </a:p>
        </p:txBody>
      </p:sp>
      <p:sp>
        <p:nvSpPr>
          <p:cNvPr id="14" name="Rectangle 13"/>
          <p:cNvSpPr/>
          <p:nvPr/>
        </p:nvSpPr>
        <p:spPr>
          <a:xfrm>
            <a:off x="571500" y="5329766"/>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 y="5228166"/>
            <a:ext cx="10718800" cy="639233"/>
          </a:xfrm>
          <a:prstGeom prst="rect">
            <a:avLst/>
          </a:prstGeom>
          <a:noFill/>
        </p:spPr>
        <p:txBody>
          <a:bodyPr wrap="square" lIns="0" rIns="0" tIns="0" bIns="0">
            <a:spAutoFit/>
          </a:bodyPr>
          <a:lstStyle/>
          <a:p>
            <a:pPr>
              <a:lnSpc>
                <a:spcPct val="112000"/>
              </a:lnSpc>
              <a:spcAft>
                <a:spcPts val="200"/>
              </a:spcAft>
              <a:defRPr sz="1850" b="0">
                <a:solidFill>
                  <a:srgbClr val="172B46"/>
                </a:solidFill>
                <a:latin typeface="Arial"/>
              </a:defRPr>
            </a:pPr>
            <a:r>
              <a:t>Ablation likelihood gain is model dependence, not Shannon MI or expert evidence sufficiency.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A scoped experiment can establish the causal claim</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Proposed study · not an experiment already run</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14</a:t>
            </a:r>
          </a:p>
        </p:txBody>
      </p:sp>
      <p:sp>
        <p:nvSpPr>
          <p:cNvPr id="9" name="Rectangle 8"/>
          <p:cNvSpPr/>
          <p:nvPr/>
        </p:nvSpPr>
        <p:spPr>
          <a:xfrm>
            <a:off x="571500" y="2006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1905000"/>
            <a:ext cx="10718800" cy="914400"/>
          </a:xfrm>
          <a:prstGeom prst="rect">
            <a:avLst/>
          </a:prstGeom>
          <a:noFill/>
        </p:spPr>
        <p:txBody>
          <a:bodyPr wrap="square" lIns="0" rIns="0" tIns="0" bIns="0">
            <a:spAutoFit/>
          </a:bodyPr>
          <a:lstStyle/>
          <a:p>
            <a:pPr>
              <a:lnSpc>
                <a:spcPct val="112000"/>
              </a:lnSpc>
              <a:spcAft>
                <a:spcPts val="200"/>
              </a:spcAft>
              <a:defRPr sz="2100" b="0">
                <a:solidFill>
                  <a:srgbClr val="172B46"/>
                </a:solidFill>
                <a:latin typeface="Arial"/>
              </a:defRPr>
            </a:pPr>
            <a:r>
              <a:t>Annotate claims and required evidence on independent, patient/article-separated cases.</a:t>
            </a:r>
          </a:p>
        </p:txBody>
      </p:sp>
      <p:sp>
        <p:nvSpPr>
          <p:cNvPr id="11" name="Rectangle 10"/>
          <p:cNvSpPr/>
          <p:nvPr/>
        </p:nvSpPr>
        <p:spPr>
          <a:xfrm>
            <a:off x="571500" y="3022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 y="2921000"/>
            <a:ext cx="10718800" cy="914400"/>
          </a:xfrm>
          <a:prstGeom prst="rect">
            <a:avLst/>
          </a:prstGeom>
          <a:noFill/>
        </p:spPr>
        <p:txBody>
          <a:bodyPr wrap="square" lIns="0" rIns="0" tIns="0" bIns="0">
            <a:spAutoFit/>
          </a:bodyPr>
          <a:lstStyle/>
          <a:p>
            <a:pPr>
              <a:lnSpc>
                <a:spcPct val="112000"/>
              </a:lnSpc>
              <a:spcAft>
                <a:spcPts val="200"/>
              </a:spcAft>
              <a:defRPr sz="2100" b="0">
                <a:solidFill>
                  <a:srgbClr val="172B46"/>
                </a:solidFill>
                <a:latin typeface="Arial"/>
              </a:defRPr>
            </a:pPr>
            <a:r>
              <a:t>Manipulate evidence availability: prior study, pathology report, missing panel. Keep questions fixed.</a:t>
            </a:r>
          </a:p>
        </p:txBody>
      </p:sp>
      <p:sp>
        <p:nvSpPr>
          <p:cNvPr id="13" name="Rectangle 12"/>
          <p:cNvSpPr/>
          <p:nvPr/>
        </p:nvSpPr>
        <p:spPr>
          <a:xfrm>
            <a:off x="571500" y="4038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200" y="3937000"/>
            <a:ext cx="10718800" cy="914400"/>
          </a:xfrm>
          <a:prstGeom prst="rect">
            <a:avLst/>
          </a:prstGeom>
          <a:noFill/>
        </p:spPr>
        <p:txBody>
          <a:bodyPr wrap="square" lIns="0" rIns="0" tIns="0" bIns="0">
            <a:spAutoFit/>
          </a:bodyPr>
          <a:lstStyle/>
          <a:p>
            <a:pPr>
              <a:lnSpc>
                <a:spcPct val="112000"/>
              </a:lnSpc>
              <a:spcAft>
                <a:spcPts val="200"/>
              </a:spcAft>
              <a:defRPr sz="2100" b="0">
                <a:solidFill>
                  <a:srgbClr val="172B46"/>
                </a:solidFill>
                <a:latin typeface="Arial"/>
              </a:defRPr>
            </a:pPr>
            <a:r>
              <a:t>Cross supervision alignment with a strong grounding objective at matched data and compute.</a:t>
            </a:r>
          </a:p>
        </p:txBody>
      </p:sp>
      <p:sp>
        <p:nvSpPr>
          <p:cNvPr id="15" name="Rectangle 14"/>
          <p:cNvSpPr/>
          <p:nvPr/>
        </p:nvSpPr>
        <p:spPr>
          <a:xfrm>
            <a:off x="571500" y="5054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200" y="4953000"/>
            <a:ext cx="10718800" cy="914400"/>
          </a:xfrm>
          <a:prstGeom prst="rect">
            <a:avLst/>
          </a:prstGeom>
          <a:noFill/>
        </p:spPr>
        <p:txBody>
          <a:bodyPr wrap="square" lIns="0" rIns="0" tIns="0" bIns="0">
            <a:spAutoFit/>
          </a:bodyPr>
          <a:lstStyle/>
          <a:p>
            <a:pPr>
              <a:lnSpc>
                <a:spcPct val="112000"/>
              </a:lnSpc>
              <a:spcAft>
                <a:spcPts val="200"/>
              </a:spcAft>
              <a:defRPr sz="2100" b="0">
                <a:solidFill>
                  <a:srgbClr val="172B46"/>
                </a:solidFill>
                <a:latin typeface="Arial"/>
              </a:defRPr>
            </a:pPr>
            <a:r>
              <a:t>Measure answerable-case accuracy, unsupported claims, correct updating and irrelevant-change stability together.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The primary outcome must require useful answers</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Proposed joint evidential success</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15</a:t>
            </a:r>
          </a:p>
        </p:txBody>
      </p:sp>
      <p:sp>
        <p:nvSpPr>
          <p:cNvPr id="9" name="Rectangle 8"/>
          <p:cNvSpPr/>
          <p:nvPr/>
        </p:nvSpPr>
        <p:spPr>
          <a:xfrm>
            <a:off x="571500" y="1905000"/>
            <a:ext cx="5397500" cy="1778000"/>
          </a:xfrm>
          <a:prstGeom prst="rect">
            <a:avLst/>
          </a:prstGeom>
          <a:solidFill>
            <a:srgbClr val="E5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2095499"/>
            <a:ext cx="4965700" cy="571500"/>
          </a:xfrm>
          <a:prstGeom prst="rect">
            <a:avLst/>
          </a:prstGeom>
          <a:noFill/>
        </p:spPr>
        <p:txBody>
          <a:bodyPr wrap="square" lIns="0" rIns="0" tIns="0" bIns="0">
            <a:spAutoFit/>
          </a:bodyPr>
          <a:lstStyle/>
          <a:p>
            <a:pPr>
              <a:lnSpc>
                <a:spcPct val="112000"/>
              </a:lnSpc>
              <a:spcAft>
                <a:spcPts val="200"/>
              </a:spcAft>
              <a:defRPr sz="2100" b="1">
                <a:solidFill>
                  <a:srgbClr val="117D83"/>
                </a:solidFill>
                <a:latin typeface="Arial"/>
              </a:defRPr>
            </a:pPr>
            <a:r>
              <a:t>Sufficient evidence</a:t>
            </a:r>
          </a:p>
        </p:txBody>
      </p:sp>
      <p:sp>
        <p:nvSpPr>
          <p:cNvPr id="11" name="TextBox 10"/>
          <p:cNvSpPr txBox="1"/>
          <p:nvPr/>
        </p:nvSpPr>
        <p:spPr>
          <a:xfrm>
            <a:off x="787400" y="2832100"/>
            <a:ext cx="4965700" cy="698500"/>
          </a:xfrm>
          <a:prstGeom prst="rect">
            <a:avLst/>
          </a:prstGeom>
          <a:noFill/>
        </p:spPr>
        <p:txBody>
          <a:bodyPr wrap="square" lIns="0" rIns="0" tIns="0" bIns="0">
            <a:spAutoFit/>
          </a:bodyPr>
          <a:lstStyle/>
          <a:p>
            <a:pPr>
              <a:lnSpc>
                <a:spcPct val="112000"/>
              </a:lnSpc>
              <a:spcAft>
                <a:spcPts val="200"/>
              </a:spcAft>
              <a:defRPr sz="2100" b="0">
                <a:solidFill>
                  <a:srgbClr val="172B46"/>
                </a:solidFill>
                <a:latin typeface="Arial"/>
              </a:defRPr>
            </a:pPr>
            <a:r>
              <a:t>Answer adequately</a:t>
            </a:r>
          </a:p>
        </p:txBody>
      </p:sp>
      <p:sp>
        <p:nvSpPr>
          <p:cNvPr id="12" name="Rectangle 11"/>
          <p:cNvSpPr/>
          <p:nvPr/>
        </p:nvSpPr>
        <p:spPr>
          <a:xfrm>
            <a:off x="6223000" y="1905000"/>
            <a:ext cx="5397500" cy="1778000"/>
          </a:xfrm>
          <a:prstGeom prst="rect">
            <a:avLst/>
          </a:prstGeom>
          <a:solidFill>
            <a:srgbClr val="E5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8900" y="2095499"/>
            <a:ext cx="4965700" cy="571500"/>
          </a:xfrm>
          <a:prstGeom prst="rect">
            <a:avLst/>
          </a:prstGeom>
          <a:noFill/>
        </p:spPr>
        <p:txBody>
          <a:bodyPr wrap="square" lIns="0" rIns="0" tIns="0" bIns="0">
            <a:spAutoFit/>
          </a:bodyPr>
          <a:lstStyle/>
          <a:p>
            <a:pPr>
              <a:lnSpc>
                <a:spcPct val="112000"/>
              </a:lnSpc>
              <a:spcAft>
                <a:spcPts val="200"/>
              </a:spcAft>
              <a:defRPr sz="2100" b="1">
                <a:solidFill>
                  <a:srgbClr val="117D83"/>
                </a:solidFill>
                <a:latin typeface="Arial"/>
              </a:defRPr>
            </a:pPr>
            <a:r>
              <a:t>Irrelevant change</a:t>
            </a:r>
          </a:p>
        </p:txBody>
      </p:sp>
      <p:sp>
        <p:nvSpPr>
          <p:cNvPr id="14" name="TextBox 13"/>
          <p:cNvSpPr txBox="1"/>
          <p:nvPr/>
        </p:nvSpPr>
        <p:spPr>
          <a:xfrm>
            <a:off x="6438900" y="2832100"/>
            <a:ext cx="4965700" cy="698500"/>
          </a:xfrm>
          <a:prstGeom prst="rect">
            <a:avLst/>
          </a:prstGeom>
          <a:noFill/>
        </p:spPr>
        <p:txBody>
          <a:bodyPr wrap="square" lIns="0" rIns="0" tIns="0" bIns="0">
            <a:spAutoFit/>
          </a:bodyPr>
          <a:lstStyle/>
          <a:p>
            <a:pPr>
              <a:lnSpc>
                <a:spcPct val="112000"/>
              </a:lnSpc>
              <a:spcAft>
                <a:spcPts val="200"/>
              </a:spcAft>
              <a:defRPr sz="2100" b="0">
                <a:solidFill>
                  <a:srgbClr val="172B46"/>
                </a:solidFill>
                <a:latin typeface="Arial"/>
              </a:defRPr>
            </a:pPr>
            <a:r>
              <a:t>Preserve supported claims</a:t>
            </a:r>
          </a:p>
        </p:txBody>
      </p:sp>
      <p:sp>
        <p:nvSpPr>
          <p:cNvPr id="15" name="Rectangle 14"/>
          <p:cNvSpPr/>
          <p:nvPr/>
        </p:nvSpPr>
        <p:spPr>
          <a:xfrm>
            <a:off x="571500" y="3937000"/>
            <a:ext cx="5397500" cy="1778000"/>
          </a:xfrm>
          <a:prstGeom prst="rect">
            <a:avLst/>
          </a:prstGeom>
          <a:solidFill>
            <a:srgbClr val="E5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400" y="4127500"/>
            <a:ext cx="4965700" cy="571500"/>
          </a:xfrm>
          <a:prstGeom prst="rect">
            <a:avLst/>
          </a:prstGeom>
          <a:noFill/>
        </p:spPr>
        <p:txBody>
          <a:bodyPr wrap="square" lIns="0" rIns="0" tIns="0" bIns="0">
            <a:spAutoFit/>
          </a:bodyPr>
          <a:lstStyle/>
          <a:p>
            <a:pPr>
              <a:lnSpc>
                <a:spcPct val="112000"/>
              </a:lnSpc>
              <a:spcAft>
                <a:spcPts val="200"/>
              </a:spcAft>
              <a:defRPr sz="2100" b="1">
                <a:solidFill>
                  <a:srgbClr val="117D83"/>
                </a:solidFill>
                <a:latin typeface="Arial"/>
              </a:defRPr>
            </a:pPr>
            <a:r>
              <a:t>Required evidence absent</a:t>
            </a:r>
          </a:p>
        </p:txBody>
      </p:sp>
      <p:sp>
        <p:nvSpPr>
          <p:cNvPr id="17" name="TextBox 16"/>
          <p:cNvSpPr txBox="1"/>
          <p:nvPr/>
        </p:nvSpPr>
        <p:spPr>
          <a:xfrm>
            <a:off x="787400" y="4864100"/>
            <a:ext cx="4965700" cy="698500"/>
          </a:xfrm>
          <a:prstGeom prst="rect">
            <a:avLst/>
          </a:prstGeom>
          <a:noFill/>
        </p:spPr>
        <p:txBody>
          <a:bodyPr wrap="square" lIns="0" rIns="0" tIns="0" bIns="0">
            <a:spAutoFit/>
          </a:bodyPr>
          <a:lstStyle/>
          <a:p>
            <a:pPr>
              <a:lnSpc>
                <a:spcPct val="112000"/>
              </a:lnSpc>
              <a:spcAft>
                <a:spcPts val="200"/>
              </a:spcAft>
              <a:defRPr sz="2100" b="0">
                <a:solidFill>
                  <a:srgbClr val="172B46"/>
                </a:solidFill>
                <a:latin typeface="Arial"/>
              </a:defRPr>
            </a:pPr>
            <a:r>
              <a:t>Qualify / request evidence</a:t>
            </a:r>
          </a:p>
        </p:txBody>
      </p:sp>
      <p:sp>
        <p:nvSpPr>
          <p:cNvPr id="18" name="Rectangle 17"/>
          <p:cNvSpPr/>
          <p:nvPr/>
        </p:nvSpPr>
        <p:spPr>
          <a:xfrm>
            <a:off x="6223000" y="3937000"/>
            <a:ext cx="5397500" cy="1778000"/>
          </a:xfrm>
          <a:prstGeom prst="rect">
            <a:avLst/>
          </a:prstGeom>
          <a:solidFill>
            <a:srgbClr val="E5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38900" y="4127500"/>
            <a:ext cx="4965700" cy="571500"/>
          </a:xfrm>
          <a:prstGeom prst="rect">
            <a:avLst/>
          </a:prstGeom>
          <a:noFill/>
        </p:spPr>
        <p:txBody>
          <a:bodyPr wrap="square" lIns="0" rIns="0" tIns="0" bIns="0">
            <a:spAutoFit/>
          </a:bodyPr>
          <a:lstStyle/>
          <a:p>
            <a:pPr>
              <a:lnSpc>
                <a:spcPct val="112000"/>
              </a:lnSpc>
              <a:spcAft>
                <a:spcPts val="200"/>
              </a:spcAft>
              <a:defRPr sz="2100" b="1">
                <a:solidFill>
                  <a:srgbClr val="117D83"/>
                </a:solidFill>
                <a:latin typeface="Arial"/>
              </a:defRPr>
            </a:pPr>
            <a:r>
              <a:t>Valid evidence arrives</a:t>
            </a:r>
          </a:p>
        </p:txBody>
      </p:sp>
      <p:sp>
        <p:nvSpPr>
          <p:cNvPr id="20" name="TextBox 19"/>
          <p:cNvSpPr txBox="1"/>
          <p:nvPr/>
        </p:nvSpPr>
        <p:spPr>
          <a:xfrm>
            <a:off x="6438900" y="4864100"/>
            <a:ext cx="4965700" cy="698500"/>
          </a:xfrm>
          <a:prstGeom prst="rect">
            <a:avLst/>
          </a:prstGeom>
          <a:noFill/>
        </p:spPr>
        <p:txBody>
          <a:bodyPr wrap="square" lIns="0" rIns="0" tIns="0" bIns="0">
            <a:spAutoFit/>
          </a:bodyPr>
          <a:lstStyle/>
          <a:p>
            <a:pPr>
              <a:lnSpc>
                <a:spcPct val="112000"/>
              </a:lnSpc>
              <a:spcAft>
                <a:spcPts val="200"/>
              </a:spcAft>
              <a:defRPr sz="2100" b="0">
                <a:solidFill>
                  <a:srgbClr val="172B46"/>
                </a:solidFill>
                <a:latin typeface="Arial"/>
              </a:defRPr>
            </a:pPr>
            <a:r>
              <a:t>Update appropriately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What would weaken the hypothesis?</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Pre-specified falsification and go/no-go criteria</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16</a:t>
            </a:r>
          </a:p>
        </p:txBody>
      </p:sp>
      <p:sp>
        <p:nvSpPr>
          <p:cNvPr id="9" name="Rectangle 8"/>
          <p:cNvSpPr/>
          <p:nvPr/>
        </p:nvSpPr>
        <p:spPr>
          <a:xfrm>
            <a:off x="571500" y="2006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1905000"/>
            <a:ext cx="10718800" cy="914400"/>
          </a:xfrm>
          <a:prstGeom prst="rect">
            <a:avLst/>
          </a:prstGeom>
          <a:noFill/>
        </p:spPr>
        <p:txBody>
          <a:bodyPr wrap="square" lIns="0" rIns="0" tIns="0" bIns="0">
            <a:spAutoFit/>
          </a:bodyPr>
          <a:lstStyle/>
          <a:p>
            <a:pPr>
              <a:lnSpc>
                <a:spcPct val="112000"/>
              </a:lnSpc>
              <a:spcAft>
                <a:spcPts val="200"/>
              </a:spcAft>
              <a:defRPr sz="2100" b="0">
                <a:solidFill>
                  <a:srgbClr val="172B46"/>
                </a:solidFill>
                <a:latin typeface="Arial"/>
              </a:defRPr>
            </a:pPr>
            <a:r>
              <a:t>Independent experts find little unavailable-evidence supervision in uniform samples.</a:t>
            </a:r>
          </a:p>
        </p:txBody>
      </p:sp>
      <p:sp>
        <p:nvSpPr>
          <p:cNvPr id="11" name="Rectangle 10"/>
          <p:cNvSpPr/>
          <p:nvPr/>
        </p:nvSpPr>
        <p:spPr>
          <a:xfrm>
            <a:off x="571500" y="3022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 y="2921000"/>
            <a:ext cx="10718800" cy="914400"/>
          </a:xfrm>
          <a:prstGeom prst="rect">
            <a:avLst/>
          </a:prstGeom>
          <a:noFill/>
        </p:spPr>
        <p:txBody>
          <a:bodyPr wrap="square" lIns="0" rIns="0" tIns="0" bIns="0">
            <a:spAutoFit/>
          </a:bodyPr>
          <a:lstStyle/>
          <a:p>
            <a:pPr>
              <a:lnSpc>
                <a:spcPct val="112000"/>
              </a:lnSpc>
              <a:spcAft>
                <a:spcPts val="200"/>
              </a:spcAft>
              <a:defRPr sz="2100" b="0">
                <a:solidFill>
                  <a:srgbClr val="172B46"/>
                </a:solidFill>
                <a:latin typeface="Arial"/>
              </a:defRPr>
            </a:pPr>
            <a:r>
              <a:t>Aligned supervision fails to beat equal-size random cleaning or existing grounding objectives.</a:t>
            </a:r>
          </a:p>
        </p:txBody>
      </p:sp>
      <p:sp>
        <p:nvSpPr>
          <p:cNvPr id="13" name="Rectangle 12"/>
          <p:cNvSpPr/>
          <p:nvPr/>
        </p:nvSpPr>
        <p:spPr>
          <a:xfrm>
            <a:off x="571500" y="4038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200" y="3937000"/>
            <a:ext cx="10718800" cy="914400"/>
          </a:xfrm>
          <a:prstGeom prst="rect">
            <a:avLst/>
          </a:prstGeom>
          <a:noFill/>
        </p:spPr>
        <p:txBody>
          <a:bodyPr wrap="square" lIns="0" rIns="0" tIns="0" bIns="0">
            <a:spAutoFit/>
          </a:bodyPr>
          <a:lstStyle/>
          <a:p>
            <a:pPr>
              <a:lnSpc>
                <a:spcPct val="112000"/>
              </a:lnSpc>
              <a:spcAft>
                <a:spcPts val="200"/>
              </a:spcAft>
              <a:defRPr sz="2100" b="0">
                <a:solidFill>
                  <a:srgbClr val="172B46"/>
                </a:solidFill>
                <a:latin typeface="Arial"/>
              </a:defRPr>
            </a:pPr>
            <a:r>
              <a:t>Unsupported claims fall only because correct answerable cases are refused.</a:t>
            </a:r>
          </a:p>
        </p:txBody>
      </p:sp>
      <p:sp>
        <p:nvSpPr>
          <p:cNvPr id="15" name="Rectangle 14"/>
          <p:cNvSpPr/>
          <p:nvPr/>
        </p:nvSpPr>
        <p:spPr>
          <a:xfrm>
            <a:off x="571500" y="5054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200" y="4953000"/>
            <a:ext cx="10718800" cy="914400"/>
          </a:xfrm>
          <a:prstGeom prst="rect">
            <a:avLst/>
          </a:prstGeom>
          <a:noFill/>
        </p:spPr>
        <p:txBody>
          <a:bodyPr wrap="square" lIns="0" rIns="0" tIns="0" bIns="0">
            <a:spAutoFit/>
          </a:bodyPr>
          <a:lstStyle/>
          <a:p>
            <a:pPr>
              <a:lnSpc>
                <a:spcPct val="112000"/>
              </a:lnSpc>
              <a:spcAft>
                <a:spcPts val="200"/>
              </a:spcAft>
              <a:defRPr sz="2100" b="0">
                <a:solidFill>
                  <a:srgbClr val="172B46"/>
                </a:solidFill>
                <a:latin typeface="Arial"/>
              </a:defRPr>
            </a:pPr>
            <a:r>
              <a:t>A stronger frozen readout or better crop resolves the issue: investigate access/use before blaming irreversible encoding loss.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Advisor discussion: approve the testable core</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Full evidence and reproducible audit: advisor_evidence_brief.html</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17</a:t>
            </a:r>
          </a:p>
        </p:txBody>
      </p:sp>
      <p:sp>
        <p:nvSpPr>
          <p:cNvPr id="9" name="TextBox 8"/>
          <p:cNvSpPr txBox="1"/>
          <p:nvPr/>
        </p:nvSpPr>
        <p:spPr>
          <a:xfrm>
            <a:off x="571500" y="1993899"/>
            <a:ext cx="10985500" cy="1016000"/>
          </a:xfrm>
          <a:prstGeom prst="rect">
            <a:avLst/>
          </a:prstGeom>
          <a:noFill/>
        </p:spPr>
        <p:txBody>
          <a:bodyPr wrap="square" lIns="0" rIns="0" tIns="0" bIns="0">
            <a:spAutoFit/>
          </a:bodyPr>
          <a:lstStyle/>
          <a:p>
            <a:pPr>
              <a:lnSpc>
                <a:spcPct val="112000"/>
              </a:lnSpc>
              <a:spcAft>
                <a:spcPts val="200"/>
              </a:spcAft>
              <a:defRPr sz="2950" b="1">
                <a:solidFill>
                  <a:srgbClr val="117D83"/>
                </a:solidFill>
                <a:latin typeface="Arial"/>
              </a:defRPr>
            </a:pPr>
            <a:r>
              <a:t>Proceed with an evidence-aligned supervision study.</a:t>
            </a:r>
          </a:p>
        </p:txBody>
      </p:sp>
      <p:sp>
        <p:nvSpPr>
          <p:cNvPr id="10" name="Rectangle 9"/>
          <p:cNvSpPr/>
          <p:nvPr/>
        </p:nvSpPr>
        <p:spPr>
          <a:xfrm>
            <a:off x="571500" y="3530600"/>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429000"/>
            <a:ext cx="10718800" cy="618066"/>
          </a:xfrm>
          <a:prstGeom prst="rect">
            <a:avLst/>
          </a:prstGeom>
          <a:noFill/>
        </p:spPr>
        <p:txBody>
          <a:bodyPr wrap="square" lIns="0" rIns="0" tIns="0" bIns="0">
            <a:spAutoFit/>
          </a:bodyPr>
          <a:lstStyle/>
          <a:p>
            <a:pPr>
              <a:lnSpc>
                <a:spcPct val="112000"/>
              </a:lnSpc>
              <a:spcAft>
                <a:spcPts val="200"/>
              </a:spcAft>
              <a:defRPr sz="2200" b="0">
                <a:solidFill>
                  <a:srgbClr val="172B46"/>
                </a:solidFill>
                <a:latin typeface="Arial"/>
              </a:defRPr>
            </a:pPr>
            <a:r>
              <a:t>Choose one modality and two evidence requirements.</a:t>
            </a:r>
          </a:p>
        </p:txBody>
      </p:sp>
      <p:sp>
        <p:nvSpPr>
          <p:cNvPr id="12" name="Rectangle 11"/>
          <p:cNvSpPr/>
          <p:nvPr/>
        </p:nvSpPr>
        <p:spPr>
          <a:xfrm>
            <a:off x="571500" y="4250266"/>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 y="4148666"/>
            <a:ext cx="10718800" cy="618066"/>
          </a:xfrm>
          <a:prstGeom prst="rect">
            <a:avLst/>
          </a:prstGeom>
          <a:noFill/>
        </p:spPr>
        <p:txBody>
          <a:bodyPr wrap="square" lIns="0" rIns="0" tIns="0" bIns="0">
            <a:spAutoFit/>
          </a:bodyPr>
          <a:lstStyle/>
          <a:p>
            <a:pPr>
              <a:lnSpc>
                <a:spcPct val="112000"/>
              </a:lnSpc>
              <a:spcAft>
                <a:spcPts val="200"/>
              </a:spcAft>
              <a:defRPr sz="2200" b="0">
                <a:solidFill>
                  <a:srgbClr val="172B46"/>
                </a:solidFill>
                <a:latin typeface="Arial"/>
              </a:defRPr>
            </a:pPr>
            <a:r>
              <a:t>Secure independent clinical annotation and provenance checks.</a:t>
            </a:r>
          </a:p>
        </p:txBody>
      </p:sp>
      <p:sp>
        <p:nvSpPr>
          <p:cNvPr id="14" name="Rectangle 13"/>
          <p:cNvSpPr/>
          <p:nvPr/>
        </p:nvSpPr>
        <p:spPr>
          <a:xfrm>
            <a:off x="571500" y="4969933"/>
            <a:ext cx="63500" cy="635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 y="4868333"/>
            <a:ext cx="10718800" cy="618066"/>
          </a:xfrm>
          <a:prstGeom prst="rect">
            <a:avLst/>
          </a:prstGeom>
          <a:noFill/>
        </p:spPr>
        <p:txBody>
          <a:bodyPr wrap="square" lIns="0" rIns="0" tIns="0" bIns="0">
            <a:spAutoFit/>
          </a:bodyPr>
          <a:lstStyle/>
          <a:p>
            <a:pPr>
              <a:lnSpc>
                <a:spcPct val="112000"/>
              </a:lnSpc>
              <a:spcAft>
                <a:spcPts val="200"/>
              </a:spcAft>
              <a:defRPr sz="2200" b="0">
                <a:solidFill>
                  <a:srgbClr val="172B46"/>
                </a:solidFill>
                <a:latin typeface="Arial"/>
              </a:defRPr>
            </a:pPr>
            <a:r>
              <a:t>Agree on a matched causal ablation and a joint utility/grounding outcome.</a:t>
            </a:r>
          </a:p>
        </p:txBody>
      </p:sp>
      <p:sp>
        <p:nvSpPr>
          <p:cNvPr id="16" name="TextBox 15"/>
          <p:cNvSpPr txBox="1"/>
          <p:nvPr/>
        </p:nvSpPr>
        <p:spPr>
          <a:xfrm>
            <a:off x="571500" y="5715000"/>
            <a:ext cx="10985500" cy="406400"/>
          </a:xfrm>
          <a:prstGeom prst="rect">
            <a:avLst/>
          </a:prstGeom>
          <a:noFill/>
        </p:spPr>
        <p:txBody>
          <a:bodyPr wrap="square" lIns="0" rIns="0" tIns="0" bIns="0">
            <a:spAutoFit/>
          </a:bodyPr>
          <a:lstStyle/>
          <a:p>
            <a:pPr>
              <a:lnSpc>
                <a:spcPct val="112000"/>
              </a:lnSpc>
              <a:spcAft>
                <a:spcPts val="200"/>
              </a:spcAft>
              <a:defRPr sz="1700" b="0">
                <a:solidFill>
                  <a:srgbClr val="52647A"/>
                </a:solidFill>
                <a:latin typeface="Arial"/>
              </a:defRPr>
            </a:pPr>
            <a:r>
              <a:t>The broad framework is reasonable. The decisive contribution still needs an experiment.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Sources: backbones and direct supervision precedents</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Primary-source links; full locators and limitations in paper_evidence.csv</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18</a:t>
            </a:r>
          </a:p>
        </p:txBody>
      </p:sp>
      <p:sp>
        <p:nvSpPr>
          <p:cNvPr id="9" name="TextBox 8"/>
          <p:cNvSpPr txBox="1"/>
          <p:nvPr/>
        </p:nvSpPr>
        <p:spPr>
          <a:xfrm>
            <a:off x="571500" y="1854200"/>
            <a:ext cx="11049000" cy="569685"/>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P01  LLaVA-Med</a:t>
            </a:r>
          </a:p>
          <a:p>
            <a:pPr>
              <a:lnSpc>
                <a:spcPct val="112000"/>
              </a:lnSpc>
              <a:spcAft>
                <a:spcPts val="200"/>
              </a:spcAft>
              <a:defRPr sz="1600" b="0">
                <a:solidFill>
                  <a:srgbClr val="172B46"/>
                </a:solidFill>
                <a:latin typeface="Arial"/>
              </a:defRPr>
            </a:pPr>
            <a:r>
              <a:t>https://arxiv.org/abs/2306.00890</a:t>
            </a:r>
          </a:p>
        </p:txBody>
      </p:sp>
      <p:sp>
        <p:nvSpPr>
          <p:cNvPr id="10" name="TextBox 9"/>
          <p:cNvSpPr txBox="1"/>
          <p:nvPr/>
        </p:nvSpPr>
        <p:spPr>
          <a:xfrm>
            <a:off x="571500" y="2449285"/>
            <a:ext cx="11049000" cy="569685"/>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P02  HuatuoGPT-Vision / PubMedVision</a:t>
            </a:r>
          </a:p>
          <a:p>
            <a:pPr>
              <a:lnSpc>
                <a:spcPct val="112000"/>
              </a:lnSpc>
              <a:spcAft>
                <a:spcPts val="200"/>
              </a:spcAft>
              <a:defRPr sz="1600" b="0">
                <a:solidFill>
                  <a:srgbClr val="172B46"/>
                </a:solidFill>
                <a:latin typeface="Arial"/>
              </a:defRPr>
            </a:pPr>
            <a:r>
              <a:t>https://aclanthology.org/2024.emnlp-main.418/</a:t>
            </a:r>
          </a:p>
        </p:txBody>
      </p:sp>
      <p:sp>
        <p:nvSpPr>
          <p:cNvPr id="11" name="TextBox 10"/>
          <p:cNvSpPr txBox="1"/>
          <p:nvPr/>
        </p:nvSpPr>
        <p:spPr>
          <a:xfrm>
            <a:off x="571500" y="3044371"/>
            <a:ext cx="11049000" cy="569685"/>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P03  Lingshu / Lingshu-Med</a:t>
            </a:r>
          </a:p>
          <a:p>
            <a:pPr>
              <a:lnSpc>
                <a:spcPct val="112000"/>
              </a:lnSpc>
              <a:spcAft>
                <a:spcPts val="200"/>
              </a:spcAft>
              <a:defRPr sz="1600" b="0">
                <a:solidFill>
                  <a:srgbClr val="172B46"/>
                </a:solidFill>
                <a:latin typeface="Arial"/>
              </a:defRPr>
            </a:pPr>
            <a:r>
              <a:t>https://arxiv.org/html/2506.07044v5</a:t>
            </a:r>
          </a:p>
        </p:txBody>
      </p:sp>
      <p:sp>
        <p:nvSpPr>
          <p:cNvPr id="12" name="TextBox 11"/>
          <p:cNvSpPr txBox="1"/>
          <p:nvPr/>
        </p:nvSpPr>
        <p:spPr>
          <a:xfrm>
            <a:off x="571500" y="3639457"/>
            <a:ext cx="11049000" cy="569685"/>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P04  MedGemma 1.5 Technical Report</a:t>
            </a:r>
          </a:p>
          <a:p>
            <a:pPr>
              <a:lnSpc>
                <a:spcPct val="112000"/>
              </a:lnSpc>
              <a:spcAft>
                <a:spcPts val="200"/>
              </a:spcAft>
              <a:defRPr sz="1600" b="0">
                <a:solidFill>
                  <a:srgbClr val="172B46"/>
                </a:solidFill>
                <a:latin typeface="Arial"/>
              </a:defRPr>
            </a:pPr>
            <a:r>
              <a:t>https://arxiv.org/html/2604.05081v1</a:t>
            </a:r>
          </a:p>
        </p:txBody>
      </p:sp>
      <p:sp>
        <p:nvSpPr>
          <p:cNvPr id="13" name="TextBox 12"/>
          <p:cNvSpPr txBox="1"/>
          <p:nvPr/>
        </p:nvSpPr>
        <p:spPr>
          <a:xfrm>
            <a:off x="571500" y="4234542"/>
            <a:ext cx="11049000" cy="569685"/>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P05  Comparative evaluation of generative AI models for CXR report generation in the ED</a:t>
            </a:r>
          </a:p>
          <a:p>
            <a:pPr>
              <a:lnSpc>
                <a:spcPct val="112000"/>
              </a:lnSpc>
              <a:spcAft>
                <a:spcPts val="200"/>
              </a:spcAft>
              <a:defRPr sz="1600" b="0">
                <a:solidFill>
                  <a:srgbClr val="172B46"/>
                </a:solidFill>
                <a:latin typeface="Arial"/>
              </a:defRPr>
            </a:pPr>
            <a:r>
              <a:t>https://pmc.ncbi.nlm.nih.gov/articles/PMC13574732/</a:t>
            </a:r>
          </a:p>
        </p:txBody>
      </p:sp>
      <p:sp>
        <p:nvSpPr>
          <p:cNvPr id="14" name="TextBox 13"/>
          <p:cNvSpPr txBox="1"/>
          <p:nvPr/>
        </p:nvSpPr>
        <p:spPr>
          <a:xfrm>
            <a:off x="571500" y="4829628"/>
            <a:ext cx="11049000" cy="569685"/>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P06  Removing hallucinated references to non-existent priors</a:t>
            </a:r>
          </a:p>
          <a:p>
            <a:pPr>
              <a:lnSpc>
                <a:spcPct val="112000"/>
              </a:lnSpc>
              <a:spcAft>
                <a:spcPts val="200"/>
              </a:spcAft>
              <a:defRPr sz="1600" b="0">
                <a:solidFill>
                  <a:srgbClr val="172B46"/>
                </a:solidFill>
                <a:latin typeface="Arial"/>
              </a:defRPr>
            </a:pPr>
            <a:r>
              <a:t>https://proceedings.mlr.press/v193/ramesh22a.html</a:t>
            </a:r>
          </a:p>
        </p:txBody>
      </p:sp>
      <p:sp>
        <p:nvSpPr>
          <p:cNvPr id="15" name="TextBox 14"/>
          <p:cNvSpPr txBox="1"/>
          <p:nvPr/>
        </p:nvSpPr>
        <p:spPr>
          <a:xfrm>
            <a:off x="571500" y="5424714"/>
            <a:ext cx="11049000" cy="569685"/>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P07  DPO for suppressing hallucinated prior exams</a:t>
            </a:r>
          </a:p>
          <a:p>
            <a:pPr>
              <a:lnSpc>
                <a:spcPct val="112000"/>
              </a:lnSpc>
              <a:spcAft>
                <a:spcPts val="200"/>
              </a:spcAft>
              <a:defRPr sz="1600" b="0">
                <a:solidFill>
                  <a:srgbClr val="172B46"/>
                </a:solidFill>
                <a:latin typeface="Arial"/>
              </a:defRPr>
            </a:pPr>
            <a:r>
              <a:t>https://arxiv.org/html/2406.06496v1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Sources: reasoning and benchmark evidence</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Primary-source links; full locators and limitations in paper_evidence.csv</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19</a:t>
            </a:r>
          </a:p>
        </p:txBody>
      </p:sp>
      <p:sp>
        <p:nvSpPr>
          <p:cNvPr id="9" name="TextBox 8"/>
          <p:cNvSpPr txBox="1"/>
          <p:nvPr/>
        </p:nvSpPr>
        <p:spPr>
          <a:xfrm>
            <a:off x="571500" y="1854200"/>
            <a:ext cx="11049000" cy="569685"/>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P08  MedVLM-R1</a:t>
            </a:r>
          </a:p>
          <a:p>
            <a:pPr>
              <a:lnSpc>
                <a:spcPct val="112000"/>
              </a:lnSpc>
              <a:spcAft>
                <a:spcPts val="200"/>
              </a:spcAft>
              <a:defRPr sz="1600" b="0">
                <a:solidFill>
                  <a:srgbClr val="172B46"/>
                </a:solidFill>
                <a:latin typeface="Arial"/>
              </a:defRPr>
            </a:pPr>
            <a:r>
              <a:t>https://papers.miccai.org/miccai-2025/0553-Paper3267.html</a:t>
            </a:r>
          </a:p>
        </p:txBody>
      </p:sp>
      <p:sp>
        <p:nvSpPr>
          <p:cNvPr id="10" name="TextBox 9"/>
          <p:cNvSpPr txBox="1"/>
          <p:nvPr/>
        </p:nvSpPr>
        <p:spPr>
          <a:xfrm>
            <a:off x="571500" y="2449285"/>
            <a:ext cx="11049000" cy="569685"/>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P09  Med-R1</a:t>
            </a:r>
          </a:p>
          <a:p>
            <a:pPr>
              <a:lnSpc>
                <a:spcPct val="112000"/>
              </a:lnSpc>
              <a:spcAft>
                <a:spcPts val="200"/>
              </a:spcAft>
              <a:defRPr sz="1600" b="0">
                <a:solidFill>
                  <a:srgbClr val="172B46"/>
                </a:solidFill>
                <a:latin typeface="Arial"/>
              </a:defRPr>
            </a:pPr>
            <a:r>
              <a:t>https://arxiv.org/html/2503.13939v1</a:t>
            </a:r>
          </a:p>
        </p:txBody>
      </p:sp>
      <p:sp>
        <p:nvSpPr>
          <p:cNvPr id="11" name="TextBox 10"/>
          <p:cNvSpPr txBox="1"/>
          <p:nvPr/>
        </p:nvSpPr>
        <p:spPr>
          <a:xfrm>
            <a:off x="571500" y="3044371"/>
            <a:ext cx="11049000" cy="569685"/>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P10  GMAI-VL-R1</a:t>
            </a:r>
          </a:p>
          <a:p>
            <a:pPr>
              <a:lnSpc>
                <a:spcPct val="112000"/>
              </a:lnSpc>
              <a:spcAft>
                <a:spcPts val="200"/>
              </a:spcAft>
              <a:defRPr sz="1600" b="0">
                <a:solidFill>
                  <a:srgbClr val="172B46"/>
                </a:solidFill>
                <a:latin typeface="Arial"/>
              </a:defRPr>
            </a:pPr>
            <a:r>
              <a:t>https://arxiv.org/html/2504.01886v1</a:t>
            </a:r>
          </a:p>
        </p:txBody>
      </p:sp>
      <p:sp>
        <p:nvSpPr>
          <p:cNvPr id="12" name="TextBox 11"/>
          <p:cNvSpPr txBox="1"/>
          <p:nvPr/>
        </p:nvSpPr>
        <p:spPr>
          <a:xfrm>
            <a:off x="571500" y="3639457"/>
            <a:ext cx="11049000" cy="569685"/>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P11  MedVLThinker</a:t>
            </a:r>
          </a:p>
          <a:p>
            <a:pPr>
              <a:lnSpc>
                <a:spcPct val="112000"/>
              </a:lnSpc>
              <a:spcAft>
                <a:spcPts val="200"/>
              </a:spcAft>
              <a:defRPr sz="1600" b="0">
                <a:solidFill>
                  <a:srgbClr val="172B46"/>
                </a:solidFill>
                <a:latin typeface="Arial"/>
              </a:defRPr>
            </a:pPr>
            <a:r>
              <a:t>https://arxiv.org/html/2508.02669v1</a:t>
            </a:r>
          </a:p>
        </p:txBody>
      </p:sp>
      <p:sp>
        <p:nvSpPr>
          <p:cNvPr id="13" name="TextBox 12"/>
          <p:cNvSpPr txBox="1"/>
          <p:nvPr/>
        </p:nvSpPr>
        <p:spPr>
          <a:xfrm>
            <a:off x="571500" y="4234542"/>
            <a:ext cx="11049000" cy="569685"/>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P12  Beyond Accuracy: Evaluating Visual Grounding in Multimodal Medical Reasoning</a:t>
            </a:r>
          </a:p>
          <a:p>
            <a:pPr>
              <a:lnSpc>
                <a:spcPct val="112000"/>
              </a:lnSpc>
              <a:spcAft>
                <a:spcPts val="200"/>
              </a:spcAft>
              <a:defRPr sz="1600" b="0">
                <a:solidFill>
                  <a:srgbClr val="172B46"/>
                </a:solidFill>
                <a:latin typeface="Arial"/>
              </a:defRPr>
            </a:pPr>
            <a:r>
              <a:t>https://arxiv.org/html/2603.03437v1</a:t>
            </a:r>
          </a:p>
        </p:txBody>
      </p:sp>
      <p:sp>
        <p:nvSpPr>
          <p:cNvPr id="14" name="TextBox 13"/>
          <p:cNvSpPr txBox="1"/>
          <p:nvPr/>
        </p:nvSpPr>
        <p:spPr>
          <a:xfrm>
            <a:off x="571500" y="4829628"/>
            <a:ext cx="11049000" cy="569685"/>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P13  MIRAGE: The Illusion of Visual Understanding</a:t>
            </a:r>
          </a:p>
          <a:p>
            <a:pPr>
              <a:lnSpc>
                <a:spcPct val="112000"/>
              </a:lnSpc>
              <a:spcAft>
                <a:spcPts val="200"/>
              </a:spcAft>
              <a:defRPr sz="1600" b="0">
                <a:solidFill>
                  <a:srgbClr val="172B46"/>
                </a:solidFill>
                <a:latin typeface="Arial"/>
              </a:defRPr>
            </a:pPr>
            <a:r>
              <a:t>https://arxiv.org/html/2603.21687v2</a:t>
            </a:r>
          </a:p>
        </p:txBody>
      </p:sp>
      <p:sp>
        <p:nvSpPr>
          <p:cNvPr id="15" name="TextBox 14"/>
          <p:cNvSpPr txBox="1"/>
          <p:nvPr/>
        </p:nvSpPr>
        <p:spPr>
          <a:xfrm>
            <a:off x="571500" y="5424714"/>
            <a:ext cx="11049000" cy="569685"/>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P14  RadImageNet-VQA</a:t>
            </a:r>
          </a:p>
          <a:p>
            <a:pPr>
              <a:lnSpc>
                <a:spcPct val="112000"/>
              </a:lnSpc>
              <a:spcAft>
                <a:spcPts val="200"/>
              </a:spcAft>
              <a:defRPr sz="1600" b="0">
                <a:solidFill>
                  <a:srgbClr val="172B46"/>
                </a:solidFill>
                <a:latin typeface="Arial"/>
              </a:defRPr>
            </a:pPr>
            <a:r>
              <a:t>https://arxiv.org/html/2512.17396v2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Sources: close methods</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Primary-source links; full locators and limitations in paper_evidence.csv</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20</a:t>
            </a:r>
          </a:p>
        </p:txBody>
      </p:sp>
      <p:sp>
        <p:nvSpPr>
          <p:cNvPr id="9" name="TextBox 8"/>
          <p:cNvSpPr txBox="1"/>
          <p:nvPr/>
        </p:nvSpPr>
        <p:spPr>
          <a:xfrm>
            <a:off x="571500" y="1854200"/>
            <a:ext cx="11049000" cy="668866"/>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P15  Act as You Think / Multi-Consistency Reward</a:t>
            </a:r>
          </a:p>
          <a:p>
            <a:pPr>
              <a:lnSpc>
                <a:spcPct val="112000"/>
              </a:lnSpc>
              <a:spcAft>
                <a:spcPts val="200"/>
              </a:spcAft>
              <a:defRPr sz="1600" b="0">
                <a:solidFill>
                  <a:srgbClr val="172B46"/>
                </a:solidFill>
                <a:latin typeface="Arial"/>
              </a:defRPr>
            </a:pPr>
            <a:r>
              <a:t>https://aclanthology.org/2026.acl-long.81/</a:t>
            </a:r>
          </a:p>
        </p:txBody>
      </p:sp>
      <p:sp>
        <p:nvSpPr>
          <p:cNvPr id="10" name="TextBox 9"/>
          <p:cNvSpPr txBox="1"/>
          <p:nvPr/>
        </p:nvSpPr>
        <p:spPr>
          <a:xfrm>
            <a:off x="571500" y="2548466"/>
            <a:ext cx="11049000" cy="668866"/>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P16  RadVLM with RL for reporting and grounding</a:t>
            </a:r>
          </a:p>
          <a:p>
            <a:pPr>
              <a:lnSpc>
                <a:spcPct val="112000"/>
              </a:lnSpc>
              <a:spcAft>
                <a:spcPts val="200"/>
              </a:spcAft>
              <a:defRPr sz="1600" b="0">
                <a:solidFill>
                  <a:srgbClr val="172B46"/>
                </a:solidFill>
                <a:latin typeface="Arial"/>
              </a:defRPr>
            </a:pPr>
            <a:r>
              <a:t>https://arxiv.org/html/2512.10691v1</a:t>
            </a:r>
          </a:p>
        </p:txBody>
      </p:sp>
      <p:sp>
        <p:nvSpPr>
          <p:cNvPr id="11" name="TextBox 10"/>
          <p:cNvSpPr txBox="1"/>
          <p:nvPr/>
        </p:nvSpPr>
        <p:spPr>
          <a:xfrm>
            <a:off x="571500" y="3242733"/>
            <a:ext cx="11049000" cy="668866"/>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P17  ChestX-Reasoner: step-by-step verification from daily reports</a:t>
            </a:r>
          </a:p>
          <a:p>
            <a:pPr>
              <a:lnSpc>
                <a:spcPct val="112000"/>
              </a:lnSpc>
              <a:spcAft>
                <a:spcPts val="200"/>
              </a:spcAft>
              <a:defRPr sz="1600" b="0">
                <a:solidFill>
                  <a:srgbClr val="172B46"/>
                </a:solidFill>
                <a:latin typeface="Arial"/>
              </a:defRPr>
            </a:pPr>
            <a:r>
              <a:t>https://www.nature.com/articles/s43856-026-01654-y</a:t>
            </a:r>
          </a:p>
        </p:txBody>
      </p:sp>
      <p:sp>
        <p:nvSpPr>
          <p:cNvPr id="12" name="TextBox 11"/>
          <p:cNvSpPr txBox="1"/>
          <p:nvPr/>
        </p:nvSpPr>
        <p:spPr>
          <a:xfrm>
            <a:off x="571500" y="3937000"/>
            <a:ext cx="11049000" cy="668866"/>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P18  MedReasoner</a:t>
            </a:r>
          </a:p>
          <a:p>
            <a:pPr>
              <a:lnSpc>
                <a:spcPct val="112000"/>
              </a:lnSpc>
              <a:spcAft>
                <a:spcPts val="200"/>
              </a:spcAft>
              <a:defRPr sz="1600" b="0">
                <a:solidFill>
                  <a:srgbClr val="172B46"/>
                </a:solidFill>
                <a:latin typeface="Arial"/>
              </a:defRPr>
            </a:pPr>
            <a:r>
              <a:t>https://arxiv.org/html/2508.08177v1</a:t>
            </a:r>
          </a:p>
        </p:txBody>
      </p:sp>
      <p:sp>
        <p:nvSpPr>
          <p:cNvPr id="13" name="TextBox 12"/>
          <p:cNvSpPr txBox="1"/>
          <p:nvPr/>
        </p:nvSpPr>
        <p:spPr>
          <a:xfrm>
            <a:off x="571500" y="4631266"/>
            <a:ext cx="11049000" cy="668866"/>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P19  Med-OPD</a:t>
            </a:r>
          </a:p>
          <a:p>
            <a:pPr>
              <a:lnSpc>
                <a:spcPct val="112000"/>
              </a:lnSpc>
              <a:spcAft>
                <a:spcPts val="200"/>
              </a:spcAft>
              <a:defRPr sz="1600" b="0">
                <a:solidFill>
                  <a:srgbClr val="172B46"/>
                </a:solidFill>
                <a:latin typeface="Arial"/>
              </a:defRPr>
            </a:pPr>
            <a:r>
              <a:t>https://arxiv.org/html/2607.16303v1</a:t>
            </a:r>
          </a:p>
        </p:txBody>
      </p:sp>
      <p:sp>
        <p:nvSpPr>
          <p:cNvPr id="14" name="TextBox 13"/>
          <p:cNvSpPr txBox="1"/>
          <p:nvPr/>
        </p:nvSpPr>
        <p:spPr>
          <a:xfrm>
            <a:off x="571500" y="5325533"/>
            <a:ext cx="11049000" cy="668866"/>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P20  MedTRACE</a:t>
            </a:r>
          </a:p>
          <a:p>
            <a:pPr>
              <a:lnSpc>
                <a:spcPct val="112000"/>
              </a:lnSpc>
              <a:spcAft>
                <a:spcPts val="200"/>
              </a:spcAft>
              <a:defRPr sz="1600" b="0">
                <a:solidFill>
                  <a:srgbClr val="172B46"/>
                </a:solidFill>
                <a:latin typeface="Arial"/>
              </a:defRPr>
            </a:pPr>
            <a:r>
              <a:t>https://arxiv.org/html/2609.14823v1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01600"/>
          </a:xfrm>
          <a:prstGeom prst="rect">
            <a:avLst/>
          </a:prstGeom>
          <a:solidFill>
            <a:srgbClr val="11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317500"/>
            <a:ext cx="10795000" cy="254000"/>
          </a:xfrm>
          <a:prstGeom prst="rect">
            <a:avLst/>
          </a:prstGeom>
          <a:noFill/>
        </p:spPr>
        <p:txBody>
          <a:bodyPr wrap="square" lIns="0" rIns="0" tIns="0" bIns="0">
            <a:spAutoFit/>
          </a:bodyPr>
          <a:lstStyle/>
          <a:p>
            <a:pPr>
              <a:lnSpc>
                <a:spcPct val="112000"/>
              </a:lnSpc>
              <a:spcAft>
                <a:spcPts val="200"/>
              </a:spcAft>
              <a:defRPr sz="1000" b="1">
                <a:solidFill>
                  <a:srgbClr val="52647A"/>
                </a:solidFill>
                <a:latin typeface="Arial"/>
              </a:defRPr>
            </a:pPr>
            <a:r>
              <a:t>MEDICAL MLLMs  /  EVIDENCE &amp; SUPERVISION</a:t>
            </a:r>
          </a:p>
        </p:txBody>
      </p:sp>
      <p:sp>
        <p:nvSpPr>
          <p:cNvPr id="5" name="TextBox 4"/>
          <p:cNvSpPr txBox="1"/>
          <p:nvPr/>
        </p:nvSpPr>
        <p:spPr>
          <a:xfrm>
            <a:off x="508000" y="749300"/>
            <a:ext cx="11176000" cy="1003300"/>
          </a:xfrm>
          <a:prstGeom prst="rect">
            <a:avLst/>
          </a:prstGeom>
          <a:noFill/>
        </p:spPr>
        <p:txBody>
          <a:bodyPr wrap="square" lIns="0" rIns="0" tIns="0" bIns="0">
            <a:spAutoFit/>
          </a:bodyPr>
          <a:lstStyle/>
          <a:p>
            <a:pPr>
              <a:lnSpc>
                <a:spcPct val="112000"/>
              </a:lnSpc>
              <a:spcAft>
                <a:spcPts val="200"/>
              </a:spcAft>
              <a:defRPr sz="2800" b="1">
                <a:solidFill>
                  <a:srgbClr val="172B46"/>
                </a:solidFill>
                <a:latin typeface="Arial"/>
              </a:defRPr>
            </a:pPr>
            <a:r>
              <a:t>Sources: attribution, abstention and calibration</a:t>
            </a:r>
          </a:p>
        </p:txBody>
      </p:sp>
      <p:sp>
        <p:nvSpPr>
          <p:cNvPr id="6" name="Rectangle 5"/>
          <p:cNvSpPr/>
          <p:nvPr/>
        </p:nvSpPr>
        <p:spPr>
          <a:xfrm>
            <a:off x="508000" y="6299200"/>
            <a:ext cx="11176000" cy="12700"/>
          </a:xfrm>
          <a:prstGeom prst="rect">
            <a:avLst/>
          </a:prstGeom>
          <a:solidFill>
            <a:srgbClr val="D4D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8000" y="6413500"/>
            <a:ext cx="10604500" cy="330200"/>
          </a:xfrm>
          <a:prstGeom prst="rect">
            <a:avLst/>
          </a:prstGeom>
          <a:noFill/>
        </p:spPr>
        <p:txBody>
          <a:bodyPr wrap="square" lIns="0" rIns="0" tIns="0" bIns="0">
            <a:spAutoFit/>
          </a:bodyPr>
          <a:lstStyle/>
          <a:p>
            <a:pPr>
              <a:lnSpc>
                <a:spcPct val="112000"/>
              </a:lnSpc>
              <a:spcAft>
                <a:spcPts val="200"/>
              </a:spcAft>
              <a:defRPr sz="900" b="0">
                <a:solidFill>
                  <a:srgbClr val="52647A"/>
                </a:solidFill>
                <a:latin typeface="Arial"/>
              </a:defRPr>
            </a:pPr>
            <a:r>
              <a:t>Primary-source links; full locators and limitations in paper_evidence.csv</a:t>
            </a:r>
          </a:p>
        </p:txBody>
      </p:sp>
      <p:sp>
        <p:nvSpPr>
          <p:cNvPr id="8" name="TextBox 7"/>
          <p:cNvSpPr txBox="1"/>
          <p:nvPr/>
        </p:nvSpPr>
        <p:spPr>
          <a:xfrm>
            <a:off x="11303000" y="6400800"/>
            <a:ext cx="381000" cy="228600"/>
          </a:xfrm>
          <a:prstGeom prst="rect">
            <a:avLst/>
          </a:prstGeom>
          <a:noFill/>
        </p:spPr>
        <p:txBody>
          <a:bodyPr wrap="square" lIns="0" rIns="0" tIns="0" bIns="0">
            <a:spAutoFit/>
          </a:bodyPr>
          <a:lstStyle/>
          <a:p>
            <a:pPr>
              <a:lnSpc>
                <a:spcPct val="112000"/>
              </a:lnSpc>
              <a:spcAft>
                <a:spcPts val="200"/>
              </a:spcAft>
              <a:defRPr sz="1000" b="0">
                <a:solidFill>
                  <a:srgbClr val="52647A"/>
                </a:solidFill>
                <a:latin typeface="Arial"/>
              </a:defRPr>
            </a:pPr>
            <a:r>
              <a:t>21</a:t>
            </a:r>
          </a:p>
        </p:txBody>
      </p:sp>
      <p:sp>
        <p:nvSpPr>
          <p:cNvPr id="9" name="TextBox 8"/>
          <p:cNvSpPr txBox="1"/>
          <p:nvPr/>
        </p:nvSpPr>
        <p:spPr>
          <a:xfrm>
            <a:off x="571500" y="1854200"/>
            <a:ext cx="11049000" cy="668866"/>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P21  Spatial and factual RL for CXR reporting</a:t>
            </a:r>
          </a:p>
          <a:p>
            <a:pPr>
              <a:lnSpc>
                <a:spcPct val="112000"/>
              </a:lnSpc>
              <a:spcAft>
                <a:spcPts val="200"/>
              </a:spcAft>
              <a:defRPr sz="1600" b="0">
                <a:solidFill>
                  <a:srgbClr val="172B46"/>
                </a:solidFill>
                <a:latin typeface="Arial"/>
              </a:defRPr>
            </a:pPr>
            <a:r>
              <a:t>https://arxiv.org/html/2609.31911v1</a:t>
            </a:r>
          </a:p>
        </p:txBody>
      </p:sp>
      <p:sp>
        <p:nvSpPr>
          <p:cNvPr id="10" name="TextBox 9"/>
          <p:cNvSpPr txBox="1"/>
          <p:nvPr/>
        </p:nvSpPr>
        <p:spPr>
          <a:xfrm>
            <a:off x="571500" y="2548466"/>
            <a:ext cx="11049000" cy="668866"/>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P22  CARE-MVLM</a:t>
            </a:r>
          </a:p>
          <a:p>
            <a:pPr>
              <a:lnSpc>
                <a:spcPct val="112000"/>
              </a:lnSpc>
              <a:spcAft>
                <a:spcPts val="200"/>
              </a:spcAft>
              <a:defRPr sz="1600" b="0">
                <a:solidFill>
                  <a:srgbClr val="172B46"/>
                </a:solidFill>
                <a:latin typeface="Arial"/>
              </a:defRPr>
            </a:pPr>
            <a:r>
              <a:t>https://www.medrxiv.org/content/10.64898/2026.09.23.26363835v1.full</a:t>
            </a:r>
          </a:p>
        </p:txBody>
      </p:sp>
      <p:sp>
        <p:nvSpPr>
          <p:cNvPr id="11" name="TextBox 10"/>
          <p:cNvSpPr txBox="1"/>
          <p:nvPr/>
        </p:nvSpPr>
        <p:spPr>
          <a:xfrm>
            <a:off x="571500" y="3242733"/>
            <a:ext cx="11049000" cy="668866"/>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P23  RULE</a:t>
            </a:r>
          </a:p>
          <a:p>
            <a:pPr>
              <a:lnSpc>
                <a:spcPct val="112000"/>
              </a:lnSpc>
              <a:spcAft>
                <a:spcPts val="200"/>
              </a:spcAft>
              <a:defRPr sz="1600" b="0">
                <a:solidFill>
                  <a:srgbClr val="172B46"/>
                </a:solidFill>
                <a:latin typeface="Arial"/>
              </a:defRPr>
            </a:pPr>
            <a:r>
              <a:t>https://aclanthology.org/2024.emnlp-main.62/</a:t>
            </a:r>
          </a:p>
        </p:txBody>
      </p:sp>
      <p:sp>
        <p:nvSpPr>
          <p:cNvPr id="12" name="TextBox 11"/>
          <p:cNvSpPr txBox="1"/>
          <p:nvPr/>
        </p:nvSpPr>
        <p:spPr>
          <a:xfrm>
            <a:off x="571500" y="3937000"/>
            <a:ext cx="11049000" cy="668866"/>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T01  V-usable information and pointwise V-information</a:t>
            </a:r>
          </a:p>
          <a:p>
            <a:pPr>
              <a:lnSpc>
                <a:spcPct val="112000"/>
              </a:lnSpc>
              <a:spcAft>
                <a:spcPts val="200"/>
              </a:spcAft>
              <a:defRPr sz="1600" b="0">
                <a:solidFill>
                  <a:srgbClr val="172B46"/>
                </a:solidFill>
                <a:latin typeface="Arial"/>
              </a:defRPr>
            </a:pPr>
            <a:r>
              <a:t>https://proceedings.mlr.press/v162/ethayarajh22a.html</a:t>
            </a:r>
          </a:p>
        </p:txBody>
      </p:sp>
      <p:sp>
        <p:nvSpPr>
          <p:cNvPr id="13" name="TextBox 12"/>
          <p:cNvSpPr txBox="1"/>
          <p:nvPr/>
        </p:nvSpPr>
        <p:spPr>
          <a:xfrm>
            <a:off x="571500" y="4631266"/>
            <a:ext cx="11049000" cy="668866"/>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T02  Conformal Risk Control</a:t>
            </a:r>
          </a:p>
          <a:p>
            <a:pPr>
              <a:lnSpc>
                <a:spcPct val="112000"/>
              </a:lnSpc>
              <a:spcAft>
                <a:spcPts val="200"/>
              </a:spcAft>
              <a:defRPr sz="1600" b="0">
                <a:solidFill>
                  <a:srgbClr val="172B46"/>
                </a:solidFill>
                <a:latin typeface="Arial"/>
              </a:defRPr>
            </a:pPr>
            <a:r>
              <a:t>https://arxiv.org/abs/2208.02814</a:t>
            </a:r>
          </a:p>
        </p:txBody>
      </p:sp>
      <p:sp>
        <p:nvSpPr>
          <p:cNvPr id="14" name="TextBox 13"/>
          <p:cNvSpPr txBox="1"/>
          <p:nvPr/>
        </p:nvSpPr>
        <p:spPr>
          <a:xfrm>
            <a:off x="571500" y="5325533"/>
            <a:ext cx="11049000" cy="668866"/>
          </a:xfrm>
          <a:prstGeom prst="rect">
            <a:avLst/>
          </a:prstGeom>
          <a:noFill/>
        </p:spPr>
        <p:txBody>
          <a:bodyPr wrap="square" lIns="0" rIns="0" tIns="0" bIns="0">
            <a:spAutoFit/>
          </a:bodyPr>
          <a:lstStyle/>
          <a:p>
            <a:pPr>
              <a:lnSpc>
                <a:spcPct val="112000"/>
              </a:lnSpc>
              <a:spcAft>
                <a:spcPts val="200"/>
              </a:spcAft>
              <a:defRPr sz="1600" b="0">
                <a:solidFill>
                  <a:srgbClr val="172B46"/>
                </a:solidFill>
                <a:latin typeface="Arial"/>
              </a:defRPr>
            </a:pPr>
            <a:r>
              <a:t>T03  Language Models with Conformal Factuality Guarantees</a:t>
            </a:r>
          </a:p>
          <a:p>
            <a:pPr>
              <a:lnSpc>
                <a:spcPct val="112000"/>
              </a:lnSpc>
              <a:spcAft>
                <a:spcPts val="200"/>
              </a:spcAft>
              <a:defRPr sz="1600" b="0">
                <a:solidFill>
                  <a:srgbClr val="172B46"/>
                </a:solidFill>
                <a:latin typeface="Arial"/>
              </a:defRPr>
            </a:pPr>
            <a:r>
              <a:t>https://proceedings.mlr.press/v235/mohri24a.html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